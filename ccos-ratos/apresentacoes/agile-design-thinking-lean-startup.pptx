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8572500" cy="2857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1" i="0" spc="100">
                <a:solidFill>
                  <a:srgbClr val="9A9AB8"/>
                </a:solidFill>
                <a:latin typeface="Inter"/>
              </a:rPr>
              <a:t>GRUPO ARTTICO + TASTTO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2190750"/>
            <a:ext cx="11049000" cy="2095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Montserrat"/>
              </a:rPr>
              <a:t>Ágil, Design Thinking</a:t>
            </a:r>
          </a:p>
          <a:p>
            <a:r>
              <a:rPr sz="4400" b="1">
                <a:solidFill>
                  <a:srgbClr val="A3E3F0"/>
                </a:solidFill>
                <a:latin typeface="Montserrat"/>
              </a:rPr>
              <a:t>e Lean Startup</a:t>
            </a:r>
          </a:p>
          <a:p>
            <a:pPr>
              <a:spcBef>
                <a:spcPts val="1800"/>
              </a:spcBef>
            </a:pPr>
            <a:r>
              <a:rPr sz="1700">
                <a:solidFill>
                  <a:srgbClr val="9A9AB8"/>
                </a:solidFill>
                <a:latin typeface="Inter"/>
              </a:rPr>
              <a:t>e por que a gente já faz isso — só não tinha nome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48400"/>
            <a:ext cx="12192000" cy="9525"/>
          </a:xfrm>
          <a:prstGeom prst="rect">
            <a:avLst/>
          </a:prstGeom>
          <a:solidFill>
            <a:srgbClr val="30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48400"/>
            <a:ext cx="1524000" cy="12700"/>
          </a:xfrm>
          <a:prstGeom prst="rect">
            <a:avLst/>
          </a:prstGeom>
          <a:solidFill>
            <a:srgbClr val="A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 Bra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343650"/>
            <a:ext cx="910262" cy="209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287000" y="6286500"/>
            <a:ext cx="1143000" cy="2857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50" b="0" i="0" spc="60">
                <a:solidFill>
                  <a:srgbClr val="666688"/>
                </a:solidFill>
                <a:latin typeface="Inter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8572500" cy="2857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1" i="0" spc="100">
                <a:solidFill>
                  <a:srgbClr val="9A9AB8"/>
                </a:solidFill>
                <a:latin typeface="Inter"/>
              </a:rPr>
              <a:t>O PONTO DE PARTIDA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990599"/>
            <a:ext cx="11049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ontserrat"/>
              </a:rPr>
              <a:t>Quantas ideias boas saem da reunião mensal
</a:t>
            </a:r>
            <a:r>
              <a:rPr sz="3000" b="1">
                <a:solidFill>
                  <a:srgbClr val="A3E3F0"/>
                </a:solidFill>
                <a:latin typeface="Montserrat"/>
              </a:rPr>
              <a:t>e nunca mais aparecem?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857500"/>
            <a:ext cx="8191500" cy="1333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E4E4F0"/>
                </a:solidFill>
                <a:latin typeface="Inter"/>
              </a:rPr>
              <a:t>Não é falta de esforço do time da Tastto. É que o processo de hoje não abre espaço pra transformar ideia em ação. É esse buraco que a gente vai fechar hoje.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8400"/>
            <a:ext cx="12192000" cy="9525"/>
          </a:xfrm>
          <a:prstGeom prst="rect">
            <a:avLst/>
          </a:prstGeom>
          <a:solidFill>
            <a:srgbClr val="30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48400"/>
            <a:ext cx="3048000" cy="12700"/>
          </a:xfrm>
          <a:prstGeom prst="rect">
            <a:avLst/>
          </a:prstGeom>
          <a:solidFill>
            <a:srgbClr val="A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 Bra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343650"/>
            <a:ext cx="910262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287000" y="6286500"/>
            <a:ext cx="1143000" cy="2857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50" b="0" i="0" spc="60">
                <a:solidFill>
                  <a:srgbClr val="666688"/>
                </a:solidFill>
                <a:latin typeface="Inter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8572500" cy="2857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1" i="0" spc="100">
                <a:solidFill>
                  <a:srgbClr val="9A9AB8"/>
                </a:solidFill>
                <a:latin typeface="Inter"/>
              </a:rPr>
              <a:t>MÓDULO 1 · ESTRUTURAS ÁGEIS MAIS COMUNS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990599"/>
            <a:ext cx="11049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ontserrat"/>
              </a:rPr>
              <a:t>Scrum </a:t>
            </a:r>
            <a:r>
              <a:rPr sz="3000" b="1">
                <a:solidFill>
                  <a:srgbClr val="9A9AB8"/>
                </a:solidFill>
                <a:latin typeface="Montserrat"/>
              </a:rPr>
              <a:t>vs </a:t>
            </a:r>
            <a:r>
              <a:rPr sz="3000" b="1">
                <a:solidFill>
                  <a:srgbClr val="A3E3F0"/>
                </a:solidFill>
                <a:latin typeface="Montserrat"/>
              </a:rPr>
              <a:t>Kanban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695450"/>
            <a:ext cx="49530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50" b="1" i="0" spc="40">
                <a:solidFill>
                  <a:srgbClr val="FFFFFF"/>
                </a:solidFill>
                <a:latin typeface="Montserrat"/>
              </a:rPr>
              <a:t>KANBAN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962150"/>
            <a:ext cx="4953000" cy="4381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4E4F0"/>
                </a:solidFill>
                <a:latin typeface="Inter"/>
              </a:rPr>
              <a:t>Fluxo contínuo de trabalho, sem ciclos fechados — nasceu no Sistema Toyota de Produção.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57450"/>
            <a:ext cx="4953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A3E3F0"/>
                </a:solidFill>
                <a:latin typeface="Inter"/>
              </a:rPr>
              <a:t>•  </a:t>
            </a:r>
            <a:r>
              <a:rPr sz="1100">
                <a:solidFill>
                  <a:srgbClr val="E4E4F0"/>
                </a:solidFill>
                <a:latin typeface="Inter"/>
              </a:rPr>
              <a:t>Visualizar o trabalho num quadro (colunas)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686050"/>
            <a:ext cx="4953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A3E3F0"/>
                </a:solidFill>
                <a:latin typeface="Inter"/>
              </a:rPr>
              <a:t>•  </a:t>
            </a:r>
            <a:r>
              <a:rPr sz="1100">
                <a:solidFill>
                  <a:srgbClr val="E4E4F0"/>
                </a:solidFill>
                <a:latin typeface="Inter"/>
              </a:rPr>
              <a:t>Limitar o quanto está “em andamento” (WIP)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914650"/>
            <a:ext cx="4953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A3E3F0"/>
                </a:solidFill>
                <a:latin typeface="Inter"/>
              </a:rPr>
              <a:t>•  </a:t>
            </a:r>
            <a:r>
              <a:rPr sz="1100">
                <a:solidFill>
                  <a:srgbClr val="E4E4F0"/>
                </a:solidFill>
                <a:latin typeface="Inter"/>
              </a:rPr>
              <a:t>Fluxo contínuo: entra tarefa quando abre espaço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3352800"/>
            <a:ext cx="1066800" cy="533400"/>
          </a:xfrm>
          <a:prstGeom prst="roundRect">
            <a:avLst/>
          </a:prstGeom>
          <a:solidFill>
            <a:srgbClr val="0A0A3D"/>
          </a:solidFill>
          <a:ln w="12700">
            <a:solidFill>
              <a:srgbClr val="30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3429000"/>
            <a:ext cx="990599" cy="190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950" b="1" i="0">
                <a:solidFill>
                  <a:srgbClr val="A3E3F0"/>
                </a:solidFill>
                <a:latin typeface="Montserrat"/>
              </a:rPr>
              <a:t>IDEIAS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38300" y="3352800"/>
            <a:ext cx="133350" cy="5334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500" b="0" i="0">
                <a:solidFill>
                  <a:srgbClr val="9A9AB8"/>
                </a:solidFill>
                <a:latin typeface="Inter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71650" y="3352800"/>
            <a:ext cx="1066800" cy="533400"/>
          </a:xfrm>
          <a:prstGeom prst="roundRect">
            <a:avLst/>
          </a:prstGeom>
          <a:solidFill>
            <a:srgbClr val="0A0A3D"/>
          </a:solidFill>
          <a:ln w="12700">
            <a:solidFill>
              <a:srgbClr val="30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09750" y="3429000"/>
            <a:ext cx="990599" cy="190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950" b="1" i="0">
                <a:solidFill>
                  <a:srgbClr val="A3E3F0"/>
                </a:solidFill>
                <a:latin typeface="Montserrat"/>
              </a:rPr>
              <a:t>A FAZER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8450" y="3352800"/>
            <a:ext cx="133350" cy="5334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500" b="0" i="0">
                <a:solidFill>
                  <a:srgbClr val="9A9AB8"/>
                </a:solidFill>
                <a:latin typeface="Inter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71800" y="3352800"/>
            <a:ext cx="1066800" cy="533400"/>
          </a:xfrm>
          <a:prstGeom prst="roundRect">
            <a:avLst/>
          </a:prstGeom>
          <a:solidFill>
            <a:srgbClr val="0A0A3D"/>
          </a:solidFill>
          <a:ln w="12700">
            <a:solidFill>
              <a:srgbClr val="30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09900" y="3429000"/>
            <a:ext cx="990599" cy="190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950" b="1" i="0">
                <a:solidFill>
                  <a:srgbClr val="A3E3F0"/>
                </a:solidFill>
                <a:latin typeface="Montserrat"/>
              </a:rPr>
              <a:t>FAZENDO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38600" y="3352800"/>
            <a:ext cx="133350" cy="5334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500" b="0" i="0">
                <a:solidFill>
                  <a:srgbClr val="9A9AB8"/>
                </a:solidFill>
                <a:latin typeface="Inter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71950" y="3352800"/>
            <a:ext cx="1066800" cy="533400"/>
          </a:xfrm>
          <a:prstGeom prst="roundRect">
            <a:avLst/>
          </a:prstGeom>
          <a:solidFill>
            <a:srgbClr val="0A0A3D"/>
          </a:solidFill>
          <a:ln w="12700">
            <a:solidFill>
              <a:srgbClr val="30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10050" y="3429000"/>
            <a:ext cx="990599" cy="190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950" b="1" i="0">
                <a:solidFill>
                  <a:srgbClr val="A3E3F0"/>
                </a:solidFill>
                <a:latin typeface="Montserrat"/>
              </a:rPr>
              <a:t>FEITO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5500" y="1695450"/>
            <a:ext cx="49530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50" b="1" i="0" spc="40">
                <a:solidFill>
                  <a:srgbClr val="A3E3F0"/>
                </a:solidFill>
                <a:latin typeface="Montserrat"/>
              </a:rPr>
              <a:t>SCRUM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05500" y="1962150"/>
            <a:ext cx="4953000" cy="4381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4E4F0"/>
                </a:solidFill>
                <a:latin typeface="Inter"/>
              </a:rPr>
              <a:t>Framework iterativo, organizado em ciclos fechados chamados sprints (1 a 4 semanas).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5500" y="2457450"/>
            <a:ext cx="4953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A3E3F0"/>
                </a:solidFill>
                <a:latin typeface="Inter"/>
              </a:rPr>
              <a:t>•  </a:t>
            </a:r>
            <a:r>
              <a:rPr sz="1100">
                <a:solidFill>
                  <a:srgbClr val="E4E4F0"/>
                </a:solidFill>
                <a:latin typeface="Inter"/>
              </a:rPr>
              <a:t>3 papéis fixos: Product Owner, Scrum Master,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05500" y="2686050"/>
            <a:ext cx="4953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A3E3F0"/>
                </a:solidFill>
                <a:latin typeface="Inter"/>
              </a:rPr>
              <a:t>•  </a:t>
            </a:r>
            <a:r>
              <a:rPr sz="1100">
                <a:solidFill>
                  <a:srgbClr val="E4E4F0"/>
                </a:solidFill>
                <a:latin typeface="Inter"/>
              </a:rPr>
              <a:t>Eventos com hora marcada (cerimônias)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5500" y="2914650"/>
            <a:ext cx="4953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A3E3F0"/>
                </a:solidFill>
                <a:latin typeface="Inter"/>
              </a:rPr>
              <a:t>•  </a:t>
            </a:r>
            <a:r>
              <a:rPr sz="1100">
                <a:solidFill>
                  <a:srgbClr val="E4E4F0"/>
                </a:solidFill>
                <a:latin typeface="Inter"/>
              </a:rPr>
              <a:t>Entrega funcional ao fim de cada sprint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05500" y="3352800"/>
            <a:ext cx="1066800" cy="533400"/>
          </a:xfrm>
          <a:prstGeom prst="roundRect">
            <a:avLst/>
          </a:prstGeom>
          <a:solidFill>
            <a:srgbClr val="0A0A3D"/>
          </a:solidFill>
          <a:ln w="12700">
            <a:solidFill>
              <a:srgbClr val="30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3429000"/>
            <a:ext cx="990599" cy="190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950" b="1" i="0">
                <a:solidFill>
                  <a:srgbClr val="A3E3F0"/>
                </a:solidFill>
                <a:latin typeface="Montserrat"/>
              </a:rPr>
              <a:t>PLANNING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2300" y="3352800"/>
            <a:ext cx="133350" cy="5334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500" b="0" i="0">
                <a:solidFill>
                  <a:srgbClr val="9A9AB8"/>
                </a:solidFill>
                <a:latin typeface="Inter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5650" y="3352800"/>
            <a:ext cx="1066800" cy="533400"/>
          </a:xfrm>
          <a:prstGeom prst="roundRect">
            <a:avLst/>
          </a:prstGeom>
          <a:solidFill>
            <a:srgbClr val="0A0A3D"/>
          </a:solidFill>
          <a:ln w="12700">
            <a:solidFill>
              <a:srgbClr val="30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43750" y="3429000"/>
            <a:ext cx="990599" cy="190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950" b="1" i="0">
                <a:solidFill>
                  <a:srgbClr val="A3E3F0"/>
                </a:solidFill>
                <a:latin typeface="Montserrat"/>
              </a:rPr>
              <a:t>DAILY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72450" y="3352800"/>
            <a:ext cx="133350" cy="5334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500" b="0" i="0">
                <a:solidFill>
                  <a:srgbClr val="9A9AB8"/>
                </a:solidFill>
                <a:latin typeface="Inter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05800" y="3352800"/>
            <a:ext cx="1066800" cy="533400"/>
          </a:xfrm>
          <a:prstGeom prst="roundRect">
            <a:avLst/>
          </a:prstGeom>
          <a:solidFill>
            <a:srgbClr val="0A0A3D"/>
          </a:solidFill>
          <a:ln w="12700">
            <a:solidFill>
              <a:srgbClr val="30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43900" y="3429000"/>
            <a:ext cx="990599" cy="190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950" b="1" i="0">
                <a:solidFill>
                  <a:srgbClr val="A3E3F0"/>
                </a:solidFill>
                <a:latin typeface="Montserrat"/>
              </a:rPr>
              <a:t>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3352800"/>
            <a:ext cx="133350" cy="5334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500" b="0" i="0">
                <a:solidFill>
                  <a:srgbClr val="9A9AB8"/>
                </a:solidFill>
                <a:latin typeface="Inter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5950" y="3352800"/>
            <a:ext cx="1066800" cy="533400"/>
          </a:xfrm>
          <a:prstGeom prst="roundRect">
            <a:avLst/>
          </a:prstGeom>
          <a:solidFill>
            <a:srgbClr val="0A0A3D"/>
          </a:solidFill>
          <a:ln w="12700">
            <a:solidFill>
              <a:srgbClr val="30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44050" y="3429000"/>
            <a:ext cx="990599" cy="190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950" b="1" i="0">
                <a:solidFill>
                  <a:srgbClr val="A3E3F0"/>
                </a:solidFill>
                <a:latin typeface="Montserrat"/>
              </a:rPr>
              <a:t>RETRO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05500" y="3943350"/>
            <a:ext cx="4953000" cy="190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28000"/>
              </a:lnSpc>
            </a:pPr>
            <a:r>
              <a:rPr sz="950" b="0" i="0">
                <a:solidFill>
                  <a:srgbClr val="9A9AB8"/>
                </a:solidFill>
                <a:latin typeface="Inter"/>
              </a:rPr>
              <a:t>↺ repete a cada sprint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1500" y="4476750"/>
            <a:ext cx="11049000" cy="609600"/>
          </a:xfrm>
          <a:prstGeom prst="roundRect">
            <a:avLst/>
          </a:prstGeom>
          <a:solidFill>
            <a:srgbClr val="0A0A3D"/>
          </a:solidFill>
          <a:ln w="12700">
            <a:solidFill>
              <a:srgbClr val="A3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0100" y="4591050"/>
            <a:ext cx="105918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</a:pPr>
            <a:r>
              <a:rPr sz="1350" b="0">
                <a:solidFill>
                  <a:srgbClr val="E4E4F0"/>
                </a:solidFill>
                <a:latin typeface="Inter"/>
              </a:rPr>
              <a:t>A sprint de quarta hoje </a:t>
            </a:r>
            <a:r>
              <a:rPr sz="1350" b="1">
                <a:solidFill>
                  <a:srgbClr val="A3E3F0"/>
                </a:solidFill>
                <a:latin typeface="Inter"/>
              </a:rPr>
              <a:t>tem nome de Scrum, mas funciona como Kanban de status.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248400"/>
            <a:ext cx="12192000" cy="9525"/>
          </a:xfrm>
          <a:prstGeom prst="rect">
            <a:avLst/>
          </a:prstGeom>
          <a:solidFill>
            <a:srgbClr val="30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6248400"/>
            <a:ext cx="4572000" cy="12700"/>
          </a:xfrm>
          <a:prstGeom prst="rect">
            <a:avLst/>
          </a:prstGeom>
          <a:solidFill>
            <a:srgbClr val="A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Logo Bra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343650"/>
            <a:ext cx="910262" cy="20955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287000" y="6286500"/>
            <a:ext cx="1143000" cy="2857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50" b="0" i="0" spc="60">
                <a:solidFill>
                  <a:srgbClr val="666688"/>
                </a:solidFill>
                <a:latin typeface="Inter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8572500" cy="2857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1" i="0" spc="100">
                <a:solidFill>
                  <a:srgbClr val="9A9AB8"/>
                </a:solidFill>
                <a:latin typeface="Inter"/>
              </a:rPr>
              <a:t>MÓDULO 1 · A PRÁTICA DO SCRUM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990599"/>
            <a:ext cx="11049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ontserrat"/>
              </a:rPr>
              <a:t>Os pilares por trás de cada método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05500" y="1676400"/>
            <a:ext cx="4953000" cy="1600200"/>
          </a:xfrm>
          <a:prstGeom prst="roundRect">
            <a:avLst/>
          </a:prstGeom>
          <a:solidFill>
            <a:srgbClr val="0A0A3D"/>
          </a:solidFill>
          <a:ln w="12700">
            <a:solidFill>
              <a:srgbClr val="30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1676400"/>
            <a:ext cx="4953000" cy="1600200"/>
          </a:xfrm>
          <a:prstGeom prst="roundRect">
            <a:avLst/>
          </a:prstGeom>
          <a:solidFill>
            <a:srgbClr val="0A0A3D"/>
          </a:solidFill>
          <a:ln w="12700">
            <a:solidFill>
              <a:srgbClr val="30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1847850"/>
            <a:ext cx="44958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i="0" spc="40">
                <a:solidFill>
                  <a:srgbClr val="A3E3F0"/>
                </a:solidFill>
                <a:latin typeface="Montserrat"/>
              </a:rPr>
              <a:t>SCRUM · 3 PILARES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2152650"/>
            <a:ext cx="449580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80">
                <a:solidFill>
                  <a:srgbClr val="A3E3F0"/>
                </a:solidFill>
                <a:latin typeface="Inter"/>
              </a:rPr>
              <a:t>•  </a:t>
            </a:r>
            <a:r>
              <a:rPr sz="1080">
                <a:solidFill>
                  <a:srgbClr val="E4E4F0"/>
                </a:solidFill>
                <a:latin typeface="Inter"/>
              </a:rPr>
              <a:t>Transparência — todo mundo vê o mesmo quadro e critério de “pronto”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2457450"/>
            <a:ext cx="449580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80">
                <a:solidFill>
                  <a:srgbClr val="A3E3F0"/>
                </a:solidFill>
                <a:latin typeface="Inter"/>
              </a:rPr>
              <a:t>•  </a:t>
            </a:r>
            <a:r>
              <a:rPr sz="1080">
                <a:solidFill>
                  <a:srgbClr val="E4E4F0"/>
                </a:solidFill>
                <a:latin typeface="Inter"/>
              </a:rPr>
              <a:t>Inspeção — checar o progresso com frequência pra achar desvio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2762250"/>
            <a:ext cx="449580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80">
                <a:solidFill>
                  <a:srgbClr val="A3E3F0"/>
                </a:solidFill>
                <a:latin typeface="Inter"/>
              </a:rPr>
              <a:t>•  </a:t>
            </a:r>
            <a:r>
              <a:rPr sz="1080">
                <a:solidFill>
                  <a:srgbClr val="E4E4F0"/>
                </a:solidFill>
                <a:latin typeface="Inter"/>
              </a:rPr>
              <a:t>Adaptação — ajustar o processo com base no que foi inspecionado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4100" y="1847850"/>
            <a:ext cx="44958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i="0" spc="40">
                <a:solidFill>
                  <a:srgbClr val="FFFFFF"/>
                </a:solidFill>
                <a:latin typeface="Montserrat"/>
              </a:rPr>
              <a:t>KANBAN · PRINCÍPIOS CENTRAIS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4100" y="2152650"/>
            <a:ext cx="449580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80">
                <a:solidFill>
                  <a:srgbClr val="A3E3F0"/>
                </a:solidFill>
                <a:latin typeface="Inter"/>
              </a:rPr>
              <a:t>•  </a:t>
            </a:r>
            <a:r>
              <a:rPr sz="1080">
                <a:solidFill>
                  <a:srgbClr val="E4E4F0"/>
                </a:solidFill>
                <a:latin typeface="Inter"/>
              </a:rPr>
              <a:t>Visualizar o fluxo de trabalho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34100" y="2457450"/>
            <a:ext cx="449580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80">
                <a:solidFill>
                  <a:srgbClr val="A3E3F0"/>
                </a:solidFill>
                <a:latin typeface="Inter"/>
              </a:rPr>
              <a:t>•  </a:t>
            </a:r>
            <a:r>
              <a:rPr sz="1080">
                <a:solidFill>
                  <a:srgbClr val="E4E4F0"/>
                </a:solidFill>
                <a:latin typeface="Inter"/>
              </a:rPr>
              <a:t>Limitar o trabalho em andamento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4100" y="2762250"/>
            <a:ext cx="449580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80">
                <a:solidFill>
                  <a:srgbClr val="A3E3F0"/>
                </a:solidFill>
                <a:latin typeface="Inter"/>
              </a:rPr>
              <a:t>•  </a:t>
            </a:r>
            <a:r>
              <a:rPr sz="1080">
                <a:solidFill>
                  <a:srgbClr val="E4E4F0"/>
                </a:solidFill>
                <a:latin typeface="Inter"/>
              </a:rPr>
              <a:t>Gerenciar o fluxo, não a tarefa isolada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3486150"/>
            <a:ext cx="110490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8000"/>
              </a:lnSpc>
            </a:pPr>
            <a:r>
              <a:rPr sz="1300" b="1" i="0">
                <a:solidFill>
                  <a:srgbClr val="FFFFFF"/>
                </a:solidFill>
                <a:latin typeface="Montserrat"/>
              </a:rPr>
              <a:t>As 4 cerimônias do Scrum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" y="3771900"/>
            <a:ext cx="2457450" cy="628650"/>
          </a:xfrm>
          <a:prstGeom prst="roundRect">
            <a:avLst/>
          </a:prstGeom>
          <a:solidFill>
            <a:srgbClr val="0A0A3D"/>
          </a:solidFill>
          <a:ln w="12700">
            <a:solidFill>
              <a:srgbClr val="30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" y="3848099"/>
            <a:ext cx="2381250" cy="190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1" i="0">
                <a:solidFill>
                  <a:srgbClr val="A3E3F0"/>
                </a:solidFill>
                <a:latin typeface="Montserrat"/>
              </a:rPr>
              <a:t>PLANNING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50" y="4038600"/>
            <a:ext cx="2343150" cy="3238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E4E4F0"/>
                </a:solidFill>
                <a:latin typeface="Inter"/>
              </a:rPr>
              <a:t>o que entra no ciclo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28950" y="3771900"/>
            <a:ext cx="209550" cy="6286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500" b="0" i="0">
                <a:solidFill>
                  <a:srgbClr val="9A9AB8"/>
                </a:solidFill>
                <a:latin typeface="Inter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38500" y="3771900"/>
            <a:ext cx="2457450" cy="628650"/>
          </a:xfrm>
          <a:prstGeom prst="roundRect">
            <a:avLst/>
          </a:prstGeom>
          <a:solidFill>
            <a:srgbClr val="0A0A3D"/>
          </a:solidFill>
          <a:ln w="12700">
            <a:solidFill>
              <a:srgbClr val="30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76600" y="3848099"/>
            <a:ext cx="2381250" cy="190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1" i="0">
                <a:solidFill>
                  <a:srgbClr val="A3E3F0"/>
                </a:solidFill>
                <a:latin typeface="Montserrat"/>
              </a:rPr>
              <a:t>DAILY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5650" y="4038600"/>
            <a:ext cx="2343150" cy="3238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E4E4F0"/>
                </a:solidFill>
                <a:latin typeface="Inter"/>
              </a:rPr>
              <a:t>alinhamento rápido diário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95950" y="3771900"/>
            <a:ext cx="209550" cy="6286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500" b="0" i="0">
                <a:solidFill>
                  <a:srgbClr val="9A9AB8"/>
                </a:solidFill>
                <a:latin typeface="Inter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05500" y="3771900"/>
            <a:ext cx="2457450" cy="628650"/>
          </a:xfrm>
          <a:prstGeom prst="roundRect">
            <a:avLst/>
          </a:prstGeom>
          <a:solidFill>
            <a:srgbClr val="0A0A3D"/>
          </a:solidFill>
          <a:ln w="12700">
            <a:solidFill>
              <a:srgbClr val="30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3848099"/>
            <a:ext cx="2381250" cy="190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1" i="0">
                <a:solidFill>
                  <a:srgbClr val="A3E3F0"/>
                </a:solidFill>
                <a:latin typeface="Montserrat"/>
              </a:rP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62650" y="4038600"/>
            <a:ext cx="2343150" cy="3238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E4E4F0"/>
                </a:solidFill>
                <a:latin typeface="Inter"/>
              </a:rPr>
              <a:t>o que foi entregue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2950" y="3771900"/>
            <a:ext cx="209550" cy="6286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500" b="0" i="0">
                <a:solidFill>
                  <a:srgbClr val="9A9AB8"/>
                </a:solidFill>
                <a:latin typeface="Inter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72500" y="3771900"/>
            <a:ext cx="2457450" cy="628650"/>
          </a:xfrm>
          <a:prstGeom prst="roundRect">
            <a:avLst/>
          </a:prstGeom>
          <a:solidFill>
            <a:srgbClr val="0A0A3D"/>
          </a:solidFill>
          <a:ln w="12700">
            <a:solidFill>
              <a:srgbClr val="30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10600" y="3848099"/>
            <a:ext cx="2381250" cy="190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1" i="0">
                <a:solidFill>
                  <a:srgbClr val="A3E3F0"/>
                </a:solidFill>
                <a:latin typeface="Montserrat"/>
              </a:rPr>
              <a:t>RETRO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29650" y="4038600"/>
            <a:ext cx="2343150" cy="3238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E4E4F0"/>
                </a:solidFill>
                <a:latin typeface="Inter"/>
              </a:rPr>
              <a:t>o que melhorar no processo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1500" y="4610100"/>
            <a:ext cx="11049000" cy="609600"/>
          </a:xfrm>
          <a:prstGeom prst="roundRect">
            <a:avLst/>
          </a:prstGeom>
          <a:solidFill>
            <a:srgbClr val="0A0A3D"/>
          </a:solidFill>
          <a:ln w="12700">
            <a:solidFill>
              <a:srgbClr val="A3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0100" y="4724400"/>
            <a:ext cx="105918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</a:pPr>
            <a:r>
              <a:rPr sz="1350" b="0">
                <a:solidFill>
                  <a:srgbClr val="E4E4F0"/>
                </a:solidFill>
                <a:latin typeface="Inter"/>
              </a:rPr>
              <a:t>No nosso template de quarta só existe a Review. </a:t>
            </a:r>
            <a:r>
              <a:rPr sz="1350" b="1">
                <a:solidFill>
                  <a:srgbClr val="A3E3F0"/>
                </a:solidFill>
                <a:latin typeface="Inter"/>
              </a:rPr>
              <a:t>Falta Planning e Retro — é exatamente aí que cabe propor melhoria.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248400"/>
            <a:ext cx="12192000" cy="9525"/>
          </a:xfrm>
          <a:prstGeom prst="rect">
            <a:avLst/>
          </a:prstGeom>
          <a:solidFill>
            <a:srgbClr val="30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248400"/>
            <a:ext cx="6096000" cy="12700"/>
          </a:xfrm>
          <a:prstGeom prst="rect">
            <a:avLst/>
          </a:prstGeom>
          <a:solidFill>
            <a:srgbClr val="A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ogo Bra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343650"/>
            <a:ext cx="910262" cy="20955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287000" y="6286500"/>
            <a:ext cx="1143000" cy="2857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50" b="0" i="0" spc="60">
                <a:solidFill>
                  <a:srgbClr val="666688"/>
                </a:solidFill>
                <a:latin typeface="Inter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8572500" cy="2857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1" i="0" spc="100">
                <a:solidFill>
                  <a:srgbClr val="9A9AB8"/>
                </a:solidFill>
                <a:latin typeface="Inter"/>
              </a:rPr>
              <a:t>MÓDULO 2 · DESIGN THINKING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990599"/>
            <a:ext cx="11049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ontserrat"/>
              </a:rPr>
              <a:t>5 fases pra entender o problema </a:t>
            </a:r>
            <a:r>
              <a:rPr sz="2600" b="1">
                <a:solidFill>
                  <a:srgbClr val="A3E3F0"/>
                </a:solidFill>
                <a:latin typeface="Montserrat"/>
              </a:rPr>
              <a:t>antes</a:t>
            </a:r>
            <a:r>
              <a:rPr sz="2600" b="1">
                <a:solidFill>
                  <a:srgbClr val="FFFFFF"/>
                </a:solidFill>
                <a:latin typeface="Montserrat"/>
              </a:rPr>
              <a:t> de criar a solução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095499"/>
            <a:ext cx="1981199" cy="1238250"/>
          </a:xfrm>
          <a:prstGeom prst="roundRect">
            <a:avLst/>
          </a:prstGeom>
          <a:solidFill>
            <a:srgbClr val="0A0A3D"/>
          </a:solidFill>
          <a:ln w="12700">
            <a:solidFill>
              <a:srgbClr val="30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2171700"/>
            <a:ext cx="1905000" cy="190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3E3F0"/>
                </a:solidFill>
                <a:latin typeface="Montserrat"/>
              </a:rPr>
              <a:t>1 · EMPATIZAR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" y="2362200"/>
            <a:ext cx="1866899" cy="93344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E4E4F0"/>
                </a:solidFill>
                <a:latin typeface="Inter"/>
              </a:rPr>
              <a:t>entender a fundo a dor do cliente, sem presumir solução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52700" y="2095499"/>
            <a:ext cx="190500" cy="1238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500" b="0" i="0">
                <a:solidFill>
                  <a:srgbClr val="9A9AB8"/>
                </a:solidFill>
                <a:latin typeface="Inter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095499"/>
            <a:ext cx="1981199" cy="1238250"/>
          </a:xfrm>
          <a:prstGeom prst="roundRect">
            <a:avLst/>
          </a:prstGeom>
          <a:solidFill>
            <a:srgbClr val="0A0A3D"/>
          </a:solidFill>
          <a:ln w="12700">
            <a:solidFill>
              <a:srgbClr val="30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1300" y="2171700"/>
            <a:ext cx="1905000" cy="190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3E3F0"/>
                </a:solidFill>
                <a:latin typeface="Montserrat"/>
              </a:rPr>
              <a:t>2 · DEFINIR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0350" y="2362200"/>
            <a:ext cx="1866899" cy="93344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E4E4F0"/>
                </a:solidFill>
                <a:latin typeface="Inter"/>
              </a:rPr>
              <a:t>sintetizar qual é o problema central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4400" y="2095499"/>
            <a:ext cx="190500" cy="1238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500" b="0" i="0">
                <a:solidFill>
                  <a:srgbClr val="9A9AB8"/>
                </a:solidFill>
                <a:latin typeface="Inter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14900" y="2095499"/>
            <a:ext cx="1981199" cy="1238250"/>
          </a:xfrm>
          <a:prstGeom prst="roundRect">
            <a:avLst/>
          </a:prstGeom>
          <a:solidFill>
            <a:srgbClr val="0A0A3D"/>
          </a:solidFill>
          <a:ln w="12700">
            <a:solidFill>
              <a:srgbClr val="30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53000" y="2171700"/>
            <a:ext cx="1905000" cy="190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3E3F0"/>
                </a:solidFill>
                <a:latin typeface="Montserrat"/>
              </a:rPr>
              <a:t>3 · IDEAR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72050" y="2362200"/>
            <a:ext cx="1866899" cy="93344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E4E4F0"/>
                </a:solidFill>
                <a:latin typeface="Inter"/>
              </a:rPr>
              <a:t>gerar o máximo de ideias possíveis, sem julgar ainda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96100" y="2095499"/>
            <a:ext cx="190500" cy="1238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500" b="0" i="0">
                <a:solidFill>
                  <a:srgbClr val="9A9AB8"/>
                </a:solidFill>
                <a:latin typeface="Inter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2095499"/>
            <a:ext cx="1981199" cy="1238250"/>
          </a:xfrm>
          <a:prstGeom prst="roundRect">
            <a:avLst/>
          </a:prstGeom>
          <a:solidFill>
            <a:srgbClr val="0A0A3D"/>
          </a:solidFill>
          <a:ln w="12700">
            <a:solidFill>
              <a:srgbClr val="30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24700" y="2171700"/>
            <a:ext cx="1905000" cy="190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3E3F0"/>
                </a:solidFill>
                <a:latin typeface="Montserrat"/>
              </a:rPr>
              <a:t>4 · PROTOTIPAR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43750" y="2362200"/>
            <a:ext cx="1866899" cy="93344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E4E4F0"/>
                </a:solidFill>
                <a:latin typeface="Inter"/>
              </a:rPr>
              <a:t>montar uma versão simples e testável da ideia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67800" y="2095499"/>
            <a:ext cx="190500" cy="1238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500" b="0" i="0">
                <a:solidFill>
                  <a:srgbClr val="9A9AB8"/>
                </a:solidFill>
                <a:latin typeface="Inter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58300" y="2095499"/>
            <a:ext cx="1981199" cy="1238250"/>
          </a:xfrm>
          <a:prstGeom prst="roundRect">
            <a:avLst/>
          </a:prstGeom>
          <a:solidFill>
            <a:srgbClr val="0A0A3D"/>
          </a:solidFill>
          <a:ln w="12700">
            <a:solidFill>
              <a:srgbClr val="30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6400" y="2171700"/>
            <a:ext cx="1905000" cy="190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3E3F0"/>
                </a:solidFill>
                <a:latin typeface="Montserrat"/>
              </a:rPr>
              <a:t>5 · TESTAR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5450" y="2362200"/>
            <a:ext cx="1866899" cy="93344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E4E4F0"/>
                </a:solidFill>
                <a:latin typeface="Inter"/>
              </a:rPr>
              <a:t>validar com o cliente real e ajustar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" y="3810000"/>
            <a:ext cx="11049000" cy="723900"/>
          </a:xfrm>
          <a:prstGeom prst="roundRect">
            <a:avLst/>
          </a:prstGeom>
          <a:solidFill>
            <a:srgbClr val="0A0A3D"/>
          </a:solidFill>
          <a:ln w="12700">
            <a:solidFill>
              <a:srgbClr val="A3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" y="3924300"/>
            <a:ext cx="10591800" cy="4952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</a:pPr>
            <a:r>
              <a:rPr sz="1350" b="0">
                <a:solidFill>
                  <a:srgbClr val="E4E4F0"/>
                </a:solidFill>
                <a:latin typeface="Inter"/>
              </a:rPr>
              <a:t>Na reunião mensal da Tastto, o time já faz Empatizar + Idear. </a:t>
            </a:r>
            <a:r>
              <a:rPr sz="1350" b="1">
                <a:solidFill>
                  <a:srgbClr val="A3E3F0"/>
                </a:solidFill>
                <a:latin typeface="Inter"/>
              </a:rPr>
              <a:t>Falta o resto do ciclo: a ideia nasce e não tem pra onde ir.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248400"/>
            <a:ext cx="12192000" cy="9525"/>
          </a:xfrm>
          <a:prstGeom prst="rect">
            <a:avLst/>
          </a:prstGeom>
          <a:solidFill>
            <a:srgbClr val="30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248400"/>
            <a:ext cx="7620000" cy="12700"/>
          </a:xfrm>
          <a:prstGeom prst="rect">
            <a:avLst/>
          </a:prstGeom>
          <a:solidFill>
            <a:srgbClr val="A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Logo Bra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343650"/>
            <a:ext cx="910262" cy="2095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287000" y="6286500"/>
            <a:ext cx="1143000" cy="2857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50" b="0" i="0" spc="60">
                <a:solidFill>
                  <a:srgbClr val="666688"/>
                </a:solidFill>
                <a:latin typeface="Inter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8572500" cy="2857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1" i="0" spc="100">
                <a:solidFill>
                  <a:srgbClr val="9A9AB8"/>
                </a:solidFill>
                <a:latin typeface="Inter"/>
              </a:rPr>
              <a:t>MÓDULO 2 · LEAN STARTUP + INTEGRAÇÃO DAS 3 METODOLOGIAS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990599"/>
            <a:ext cx="11049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ontserrat"/>
              </a:rPr>
              <a:t>Testar pequeno </a:t>
            </a:r>
            <a:r>
              <a:rPr sz="2600" b="1">
                <a:solidFill>
                  <a:srgbClr val="A3E3F0"/>
                </a:solidFill>
                <a:latin typeface="Montserrat"/>
              </a:rPr>
              <a:t>antes de escalar</a:t>
            </a:r>
            <a:r>
              <a:rPr sz="2600" b="1">
                <a:solidFill>
                  <a:srgbClr val="FFFFFF"/>
                </a:solidFill>
                <a:latin typeface="Montserrat"/>
              </a:rPr>
              <a:t> pra todos os clientes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809750"/>
            <a:ext cx="11049000" cy="4191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E4E4F0"/>
                </a:solidFill>
                <a:latin typeface="Inter"/>
              </a:rPr>
              <a:t>MVP (Produto/Ação Mínima Viável): a versão mais simples de uma ideia que já pode ser testada com o menor esforço possível.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343150"/>
            <a:ext cx="1905000" cy="533400"/>
          </a:xfrm>
          <a:prstGeom prst="roundRect">
            <a:avLst/>
          </a:prstGeom>
          <a:solidFill>
            <a:srgbClr val="0A0A3D"/>
          </a:solidFill>
          <a:ln w="12700">
            <a:solidFill>
              <a:srgbClr val="30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2419350"/>
            <a:ext cx="1828800" cy="190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1" i="0">
                <a:solidFill>
                  <a:srgbClr val="A3E3F0"/>
                </a:solidFill>
                <a:latin typeface="Montserrat"/>
              </a:rPr>
              <a:t>CONSTRUIR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76500" y="2343150"/>
            <a:ext cx="228600" cy="5334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500" b="0" i="0">
                <a:solidFill>
                  <a:srgbClr val="9A9AB8"/>
                </a:solidFill>
                <a:latin typeface="Inter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05100" y="2343150"/>
            <a:ext cx="1905000" cy="533400"/>
          </a:xfrm>
          <a:prstGeom prst="roundRect">
            <a:avLst/>
          </a:prstGeom>
          <a:solidFill>
            <a:srgbClr val="0A0A3D"/>
          </a:solidFill>
          <a:ln w="12700">
            <a:solidFill>
              <a:srgbClr val="30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2419350"/>
            <a:ext cx="1828800" cy="190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1" i="0">
                <a:solidFill>
                  <a:srgbClr val="A3E3F0"/>
                </a:solidFill>
                <a:latin typeface="Montserrat"/>
              </a:rPr>
              <a:t>MEDIR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0100" y="2343150"/>
            <a:ext cx="228600" cy="5334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500" b="0" i="0">
                <a:solidFill>
                  <a:srgbClr val="9A9AB8"/>
                </a:solidFill>
                <a:latin typeface="Inter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38700" y="2343150"/>
            <a:ext cx="1905000" cy="533400"/>
          </a:xfrm>
          <a:prstGeom prst="roundRect">
            <a:avLst/>
          </a:prstGeom>
          <a:solidFill>
            <a:srgbClr val="0A0A3D"/>
          </a:solidFill>
          <a:ln w="12700">
            <a:solidFill>
              <a:srgbClr val="30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6800" y="2419350"/>
            <a:ext cx="1828800" cy="190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1" i="0">
                <a:solidFill>
                  <a:srgbClr val="A3E3F0"/>
                </a:solidFill>
                <a:latin typeface="Montserrat"/>
              </a:rPr>
              <a:t>APRENDER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3700" y="2343150"/>
            <a:ext cx="2095499" cy="533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9A9AB8"/>
                </a:solidFill>
                <a:latin typeface="Inter"/>
              </a:rPr>
              <a:t>↺ repete o ciclo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3143250"/>
            <a:ext cx="110490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8000"/>
              </a:lnSpc>
            </a:pPr>
            <a:r>
              <a:rPr sz="1300" b="1" i="0">
                <a:solidFill>
                  <a:srgbClr val="FFFFFF"/>
                </a:solidFill>
                <a:latin typeface="Montserrat"/>
              </a:rPr>
              <a:t>Como as 3 metodologias se encaixam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" y="3429000"/>
            <a:ext cx="3333750" cy="723900"/>
          </a:xfrm>
          <a:prstGeom prst="roundRect">
            <a:avLst/>
          </a:prstGeom>
          <a:solidFill>
            <a:srgbClr val="0A0A3D"/>
          </a:solidFill>
          <a:ln w="12700">
            <a:solidFill>
              <a:srgbClr val="30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" y="3505200"/>
            <a:ext cx="3257550" cy="190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50" b="1" i="0">
                <a:solidFill>
                  <a:srgbClr val="A3E3F0"/>
                </a:solidFill>
                <a:latin typeface="Montserrat"/>
              </a:rPr>
              <a:t>DESIGN THINKING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50" y="3695700"/>
            <a:ext cx="3219450" cy="4191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E4E4F0"/>
                </a:solidFill>
                <a:latin typeface="Inter"/>
              </a:rPr>
              <a:t>gera a ideia a partir do problema real do cliente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5249" y="3429000"/>
            <a:ext cx="190500" cy="7239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500" b="0" i="0">
                <a:solidFill>
                  <a:srgbClr val="9A9AB8"/>
                </a:solidFill>
                <a:latin typeface="Inter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95750" y="3429000"/>
            <a:ext cx="3333750" cy="723900"/>
          </a:xfrm>
          <a:prstGeom prst="roundRect">
            <a:avLst/>
          </a:prstGeom>
          <a:solidFill>
            <a:srgbClr val="0A0A3D"/>
          </a:solidFill>
          <a:ln w="12700">
            <a:solidFill>
              <a:srgbClr val="30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33849" y="3505200"/>
            <a:ext cx="3257550" cy="190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50" b="1" i="0">
                <a:solidFill>
                  <a:srgbClr val="A3E3F0"/>
                </a:solidFill>
                <a:latin typeface="Montserrat"/>
              </a:rPr>
              <a:t>LEAN STARTUP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2900" y="3695700"/>
            <a:ext cx="3219450" cy="4191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E4E4F0"/>
                </a:solidFill>
                <a:latin typeface="Inter"/>
              </a:rPr>
              <a:t>testa essa ideia pequena, em 1 conta (MVP)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9500" y="3429000"/>
            <a:ext cx="190500" cy="7239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500" b="0" i="0">
                <a:solidFill>
                  <a:srgbClr val="9A9AB8"/>
                </a:solidFill>
                <a:latin typeface="Inter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20000" y="3429000"/>
            <a:ext cx="3333750" cy="723900"/>
          </a:xfrm>
          <a:prstGeom prst="roundRect">
            <a:avLst/>
          </a:prstGeom>
          <a:solidFill>
            <a:srgbClr val="0A0A3D"/>
          </a:solidFill>
          <a:ln w="12700">
            <a:solidFill>
              <a:srgbClr val="30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58100" y="3505200"/>
            <a:ext cx="3257550" cy="190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50" b="1" i="0">
                <a:solidFill>
                  <a:srgbClr val="A3E3F0"/>
                </a:solidFill>
                <a:latin typeface="Montserrat"/>
              </a:rPr>
              <a:t>ÁGIL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77150" y="3695700"/>
            <a:ext cx="3219450" cy="4191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E4E4F0"/>
                </a:solidFill>
                <a:latin typeface="Inter"/>
              </a:rPr>
              <a:t>dá o ritmo fixo de revisão e decisão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1500" y="4457700"/>
            <a:ext cx="11049000" cy="609600"/>
          </a:xfrm>
          <a:prstGeom prst="roundRect">
            <a:avLst/>
          </a:prstGeom>
          <a:solidFill>
            <a:srgbClr val="0A0A3D"/>
          </a:solidFill>
          <a:ln w="12700">
            <a:solidFill>
              <a:srgbClr val="A3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" y="4572000"/>
            <a:ext cx="105918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</a:pPr>
            <a:r>
              <a:rPr sz="1350" b="0">
                <a:solidFill>
                  <a:srgbClr val="E4E4F0"/>
                </a:solidFill>
                <a:latin typeface="Inter"/>
              </a:rPr>
              <a:t>Hoje só o meio e o fim desse fluxo funcionam — e só pra pendência de conta. </a:t>
            </a:r>
            <a:r>
              <a:rPr sz="1350" b="1">
                <a:solidFill>
                  <a:srgbClr val="A3E3F0"/>
                </a:solidFill>
                <a:latin typeface="Inter"/>
              </a:rPr>
              <a:t>Falta plugar a ideia nele.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248400"/>
            <a:ext cx="12192000" cy="9525"/>
          </a:xfrm>
          <a:prstGeom prst="rect">
            <a:avLst/>
          </a:prstGeom>
          <a:solidFill>
            <a:srgbClr val="30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248400"/>
            <a:ext cx="9144000" cy="12700"/>
          </a:xfrm>
          <a:prstGeom prst="rect">
            <a:avLst/>
          </a:prstGeom>
          <a:solidFill>
            <a:srgbClr val="A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Logo Bra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343650"/>
            <a:ext cx="910262" cy="2095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287000" y="6286500"/>
            <a:ext cx="1143000" cy="2857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50" b="0" i="0" spc="60">
                <a:solidFill>
                  <a:srgbClr val="666688"/>
                </a:solidFill>
                <a:latin typeface="Inter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8572500" cy="2857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1" i="0" spc="100">
                <a:solidFill>
                  <a:srgbClr val="9A9AB8"/>
                </a:solidFill>
                <a:latin typeface="Inter"/>
              </a:rPr>
              <a:t>A PROPOSTA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990599"/>
            <a:ext cx="11049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ontserrat"/>
              </a:rPr>
              <a:t>Duas coisas que hoje vivem misturadas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000250"/>
            <a:ext cx="4762500" cy="2857500"/>
          </a:xfrm>
          <a:prstGeom prst="roundRect">
            <a:avLst/>
          </a:prstGeom>
          <a:solidFill>
            <a:srgbClr val="0A0A3D"/>
          </a:solidFill>
          <a:ln w="12700">
            <a:solidFill>
              <a:srgbClr val="30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05500" y="2000250"/>
            <a:ext cx="4762500" cy="2857500"/>
          </a:xfrm>
          <a:prstGeom prst="roundRect">
            <a:avLst/>
          </a:prstGeom>
          <a:solidFill>
            <a:srgbClr val="0A0A3D"/>
          </a:solidFill>
          <a:ln w="12700">
            <a:solidFill>
              <a:srgbClr val="A3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0100" y="2190750"/>
            <a:ext cx="895350" cy="381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7150" rIns="57150" tIns="19050" bIns="19050"/>
          <a:lstStyle/>
          <a:p>
            <a:pPr algn="ctr"/>
            <a:r>
              <a:rPr sz="1100" b="1" spc="80">
                <a:solidFill>
                  <a:srgbClr val="FFFFFF"/>
                </a:solidFill>
                <a:latin typeface="Inter"/>
              </a:rPr>
              <a:t>HOJE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4100" y="2190750"/>
            <a:ext cx="131445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7150" rIns="57150" tIns="19050" bIns="19050"/>
          <a:lstStyle/>
          <a:p>
            <a:pPr algn="ctr"/>
            <a:r>
              <a:rPr sz="1100" b="1" spc="80">
                <a:solidFill>
                  <a:srgbClr val="00002C"/>
                </a:solidFill>
                <a:latin typeface="Inter"/>
              </a:rPr>
              <a:t>PROPOSTA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2628900"/>
            <a:ext cx="43053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500" b="1" i="0" spc="40">
                <a:solidFill>
                  <a:srgbClr val="FFFFFF"/>
                </a:solidFill>
                <a:latin typeface="Montserrat"/>
              </a:rPr>
              <a:t>BACKLOG OPERACIONAL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2952750"/>
            <a:ext cx="43053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50">
                <a:solidFill>
                  <a:srgbClr val="A3E3F0"/>
                </a:solidFill>
                <a:latin typeface="Inter"/>
              </a:rPr>
              <a:t>•  </a:t>
            </a:r>
            <a:r>
              <a:rPr sz="1150">
                <a:solidFill>
                  <a:srgbClr val="E4E4F0"/>
                </a:solidFill>
                <a:latin typeface="Inter"/>
              </a:rPr>
              <a:t>O que é: pendência de conta — status, ajuste, cobrança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371850"/>
            <a:ext cx="43053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50">
                <a:solidFill>
                  <a:srgbClr val="A3E3F0"/>
                </a:solidFill>
                <a:latin typeface="Inter"/>
              </a:rPr>
              <a:t>•  </a:t>
            </a:r>
            <a:r>
              <a:rPr sz="1150">
                <a:solidFill>
                  <a:srgbClr val="E4E4F0"/>
                </a:solidFill>
                <a:latin typeface="Inter"/>
              </a:rPr>
              <a:t>Onde mora: sprint de quarta (hoje 100% do tempo)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790949"/>
            <a:ext cx="43053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50">
                <a:solidFill>
                  <a:srgbClr val="A3E3F0"/>
                </a:solidFill>
                <a:latin typeface="Inter"/>
              </a:rPr>
              <a:t>•  </a:t>
            </a:r>
            <a:r>
              <a:rPr sz="1150">
                <a:solidFill>
                  <a:srgbClr val="E4E4F0"/>
                </a:solidFill>
                <a:latin typeface="Inter"/>
              </a:rPr>
              <a:t>Ritmo: reativo e contínuo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34100" y="2628900"/>
            <a:ext cx="43053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500" b="1" i="0" spc="40">
                <a:solidFill>
                  <a:srgbClr val="A3E3F0"/>
                </a:solidFill>
                <a:latin typeface="Montserrat"/>
              </a:rPr>
              <a:t>BACKLOG DE MELHORIA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4100" y="2952750"/>
            <a:ext cx="43053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50">
                <a:solidFill>
                  <a:srgbClr val="A3E3F0"/>
                </a:solidFill>
                <a:latin typeface="Inter"/>
              </a:rPr>
              <a:t>•  </a:t>
            </a:r>
            <a:r>
              <a:rPr sz="1150">
                <a:solidFill>
                  <a:srgbClr val="E4E4F0"/>
                </a:solidFill>
                <a:latin typeface="Inter"/>
              </a:rPr>
              <a:t>O que é: ideia de ação criativa, teste, melhoria de processo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34100" y="3371850"/>
            <a:ext cx="43053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50">
                <a:solidFill>
                  <a:srgbClr val="A3E3F0"/>
                </a:solidFill>
                <a:latin typeface="Inter"/>
              </a:rPr>
              <a:t>•  </a:t>
            </a:r>
            <a:r>
              <a:rPr sz="1150">
                <a:solidFill>
                  <a:srgbClr val="E4E4F0"/>
                </a:solidFill>
                <a:latin typeface="Inter"/>
              </a:rPr>
              <a:t>Onde mora: lista nova + bloco fixo na sprint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4100" y="3790949"/>
            <a:ext cx="43053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50">
                <a:solidFill>
                  <a:srgbClr val="A3E3F0"/>
                </a:solidFill>
                <a:latin typeface="Inter"/>
              </a:rPr>
              <a:t>•  </a:t>
            </a:r>
            <a:r>
              <a:rPr sz="1150">
                <a:solidFill>
                  <a:srgbClr val="E4E4F0"/>
                </a:solidFill>
                <a:latin typeface="Inter"/>
              </a:rPr>
              <a:t>Ritmo: intencional e proativo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10200" y="3257550"/>
            <a:ext cx="419100" cy="342900"/>
          </a:xfrm>
          <a:prstGeom prst="roundRect">
            <a:avLst/>
          </a:prstGeom>
          <a:solidFill>
            <a:srgbClr val="00002C"/>
          </a:solidFill>
          <a:ln w="12700">
            <a:solidFill>
              <a:srgbClr val="9A9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10200" y="3314700"/>
            <a:ext cx="4191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200" b="1" i="0">
                <a:solidFill>
                  <a:srgbClr val="9A9AB8"/>
                </a:solidFill>
                <a:latin typeface="Inter"/>
              </a:rPr>
              <a:t>VS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248400"/>
            <a:ext cx="12192000" cy="9525"/>
          </a:xfrm>
          <a:prstGeom prst="rect">
            <a:avLst/>
          </a:prstGeom>
          <a:solidFill>
            <a:srgbClr val="30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248400"/>
            <a:ext cx="10668000" cy="12700"/>
          </a:xfrm>
          <a:prstGeom prst="rect">
            <a:avLst/>
          </a:prstGeom>
          <a:solidFill>
            <a:srgbClr val="A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ogo Bra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343650"/>
            <a:ext cx="910262" cy="2095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287000" y="6286500"/>
            <a:ext cx="1143000" cy="2857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50" b="0" i="0" spc="60">
                <a:solidFill>
                  <a:srgbClr val="666688"/>
                </a:solidFill>
                <a:latin typeface="Inter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8572500" cy="2857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1" i="0" spc="100">
                <a:solidFill>
                  <a:srgbClr val="9A9AB8"/>
                </a:solidFill>
                <a:latin typeface="Inter"/>
              </a:rPr>
              <a:t>COMO FICA NA PRÁTICA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990599"/>
            <a:ext cx="11049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ontserrat"/>
              </a:rPr>
              <a:t>O combinado pra próxima quarta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905000"/>
            <a:ext cx="5143500" cy="914400"/>
          </a:xfrm>
          <a:prstGeom prst="roundRect">
            <a:avLst/>
          </a:prstGeom>
          <a:solidFill>
            <a:srgbClr val="0A0A3D"/>
          </a:solidFill>
          <a:ln w="12700">
            <a:solidFill>
              <a:srgbClr val="30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1981199"/>
            <a:ext cx="5067300" cy="190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200" b="1" i="0">
                <a:solidFill>
                  <a:srgbClr val="A3E3F0"/>
                </a:solidFill>
                <a:latin typeface="Montserrat"/>
              </a:rPr>
              <a:t>1 · REUNIÃO MENSAL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" y="2171700"/>
            <a:ext cx="5029200" cy="609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12000"/>
              </a:lnSpc>
            </a:pPr>
            <a:r>
              <a:rPr sz="1000" b="0" i="0">
                <a:solidFill>
                  <a:srgbClr val="E4E4F0"/>
                </a:solidFill>
                <a:latin typeface="Inter"/>
              </a:rPr>
              <a:t>toda ideia entra direto na lista de melhoria — não fica só na 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1905000"/>
            <a:ext cx="381000" cy="9144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500" b="0" i="0">
                <a:solidFill>
                  <a:srgbClr val="9A9AB8"/>
                </a:solidFill>
                <a:latin typeface="Inter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0" y="1905000"/>
            <a:ext cx="5143500" cy="914400"/>
          </a:xfrm>
          <a:prstGeom prst="roundRect">
            <a:avLst/>
          </a:prstGeom>
          <a:solidFill>
            <a:srgbClr val="0A0A3D"/>
          </a:solidFill>
          <a:ln w="12700">
            <a:solidFill>
              <a:srgbClr val="30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34100" y="1981199"/>
            <a:ext cx="5067300" cy="190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200" b="1" i="0">
                <a:solidFill>
                  <a:srgbClr val="A3E3F0"/>
                </a:solidFill>
                <a:latin typeface="Montserrat"/>
              </a:rPr>
              <a:t>2 · SPRINT DE QUARTA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3150" y="2171700"/>
            <a:ext cx="5029200" cy="609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12000"/>
              </a:lnSpc>
            </a:pPr>
            <a:r>
              <a:rPr sz="1000" b="0" i="0">
                <a:solidFill>
                  <a:srgbClr val="E4E4F0"/>
                </a:solidFill>
                <a:latin typeface="Inter"/>
              </a:rPr>
              <a:t>bloco fixo de 10 min só pra essa lista, separado do status de conta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3143250"/>
            <a:ext cx="571500" cy="571500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A3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A3E3F0"/>
                </a:solidFill>
                <a:latin typeface="Montserrat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3829050"/>
            <a:ext cx="110490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2400" b="0">
                <a:solidFill>
                  <a:srgbClr val="FFFFFF"/>
                </a:solidFill>
                <a:latin typeface="Inter"/>
              </a:rPr>
              <a:t>A partir da próxima quarta: </a:t>
            </a:r>
            <a:r>
              <a:rPr sz="2400" b="1">
                <a:solidFill>
                  <a:srgbClr val="A3E3F0"/>
                </a:solidFill>
                <a:latin typeface="Inter"/>
              </a:rPr>
              <a:t>10 minutos fixos só pra propor, testar e priorizar melhoria.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248400"/>
            <a:ext cx="12192000" cy="9525"/>
          </a:xfrm>
          <a:prstGeom prst="rect">
            <a:avLst/>
          </a:prstGeom>
          <a:solidFill>
            <a:srgbClr val="30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248400"/>
            <a:ext cx="12192000" cy="12700"/>
          </a:xfrm>
          <a:prstGeom prst="rect">
            <a:avLst/>
          </a:prstGeom>
          <a:solidFill>
            <a:srgbClr val="A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go Bra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343650"/>
            <a:ext cx="910262" cy="2095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287000" y="6286500"/>
            <a:ext cx="1143000" cy="2857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50" b="0" i="0" spc="60">
                <a:solidFill>
                  <a:srgbClr val="666688"/>
                </a:solidFill>
                <a:latin typeface="Inter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FFFF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