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Gente, bom dia / boa tarde. O que eu trouxe hoje é uma sessão bem prática, baseada num livro chamado Influencer Marketing Strategy, do Gordon Glenister, de 2021 — e eu cruzei o que ele traz com dados de mercado de 2025, pra gente não ficar só na teoria. A ideia não é fazer um resumo de livro. É pegar o que ele mostra sobre como o marketing de influência amadureceu, e já sair daqui com direcionamentos concretos pra como a gente propõe e mede campanha de influenciador tanto na Arttico quanto na Tastto.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 começar, vale entender o tamanho da mudança. Quando o Glenister escreveu o livro, em 2019, o mercado global de influenciadores movimentava cerca de 8 bilhões de dólares. Hoje, em 2025, esse número já passa de 30 bilhões — mais de quatro vezes maior. E não é só o mercado global: no Brasil, hoje, já são 2,1 milhões de criadores de conteúdo — um número que nem existia mensurado na época do livro.</a:t>
            </a:r>
          </a:p>
          <a:p/>
          <a:p>
            <a:r>
              <a:t>O que motiva esse crescimento não é modismo, é confiança. Millennials e Gen Z desconfiam por padrão de mídia tradicional e confiam por padrão em “gente como a gente” — e isso virou comportamento de compra: 58% dos brasileiros já compraram algo por indicação direta de um criador.</a:t>
            </a:r>
          </a:p>
          <a:p/>
          <a:p>
            <a:r>
              <a:t>E essa migração não é nova — ela só acelerou. Airbnb cresceu com influenciadores locais antes de ter qualquer mídia tradicional. Glossier nasceu literalmente de um blog e virou marca bilionária. E até marca centenária como Estée Lauder já destina 75% do orçamento de marketing pra digital e influenciadores. A pandemia só empurrou isso: toda marca testou influenciador porque a mídia tradicional parou — e esse “teste” virou linha de orçamento permanente.</a:t>
            </a:r>
          </a:p>
          <a:p/>
          <a:p>
            <a:r>
              <a:t>Isso resume bem uma frase do Scott Guthrie que eu trouxe aqui: a gente não confia mais cegamente em instituição, em grande negócio, nem em mídia — a gente confia em pessoas como a gente. É esse o terreno em que a gente pisa quando propõe influenciador pro cliente.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Então, o que é, de fato, um influenciador? A definição do próprio Glenister é essa: um indivíduo que consegue mudar o comportamento de outras pessoas, geralmente através de opinião confiável, conhecimento e criação de conteúdo. Reparem que isso já deixa claro que influencer marketing não é a mesma coisa que publicidade com celebridade, nem afiliado, nem indicação pura — são primos, não sinônimos, e vale a gente alinhar esse vocabulário internamente antes de propor pro cliente.</a:t>
            </a:r>
          </a:p>
          <a:p/>
          <a:p>
            <a:r>
              <a:t>Os números mostram os dois motivos principais que fazem alguém seguir um criador: 51% seguem pra aprender algo novo, 49% seguem por entretenimento. E desde a pandemia, o traço mais valorizado num influenciador deixou de ser humor ou criatividade — virou confiabilidade.</a:t>
            </a:r>
          </a:p>
          <a:p/>
          <a:p>
            <a:r>
              <a:t>E é exatamente aí que mora o erro mais comum, que o Jason Falls resume bem: 90% das marcas abordam influenciador perguntando “quanto você cobra pra repetir exatamente o que eu quero que você diga” — isso não é parceria, é spam disfarçado. Se a gente quer que funcione, o ponto de partida tem que ser confiança genuína, não roteiro engessado.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onde investir atenção: o Instagram continua sendo o motor de conversão número um pra parceria paga, principalmente com Shopping tags. O TikTok é quem mais cresce, mas exige dar liberdade criativa de verdade pro criador — não dá pra engessar o roteiro lá. No YouTube, 70% do tempo assistido já é mobile, o que significa que autenticidade importa mais que produção cara. E no Twitter/X, 40% dos usuários já compraram alguma coisa por causa de um tweet de influenciador.</a:t>
            </a:r>
          </a:p>
          <a:p/>
          <a:p>
            <a:r>
              <a:t>Pra organizar isso na hora de conversar com cliente, o framework que eu gosto de usar é o PESO Model — Paid, Earned, Shared, Owned. Ele ajuda a mostrar exatamente onde a campanha de influenciador entra dentro do mix de mídia que o cliente já compra, em vez de parecer uma ação solta.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qualquer campanha ir pro ar, ela precisa passar pelo filtro SMART: específica, mensurável, atingível, relevante pro objetivo comercial, e com prazo definido. Parece básico, mas é exatamente o que costuma faltar — e o Sedge Beswick resume bem o risco de pular essa etapa: ele diz que praticamente já consegue garantir que uma campanha não funcionou porque escolheram o influenciador errado e abordaram do ângulo errado. Falta de critério na entrada já condena o resultado.</a:t>
            </a:r>
          </a:p>
          <a:p/>
          <a:p>
            <a:r>
              <a:t>E junto com o SMART vem uma parte que a gente não pode tratar como burocracia chata: o contrato. Isso é proteção de reputação, não papelada. Pagamento e prazo por escrito, direitos de uso de imagem, disclosure obrigatório — sempre #ad, nunca #sp escondido —, aprovação de conteúdo antes de publicar, e cláusula de exclusividade quando fizer sentido. O caso que ilustra bem o risco de não fazer isso é o do Scott Disick com a Bootea: ele postou o script inteiro que a marca mandou, incluindo as instruções — virou vexame público e meme. É esse tipo de situação que um contrato mínimo evita.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perfil de quem influencia também mudou bastante desde que o livro foi escrito. Em 2021, o perfil médio era 28 anos, 77% mulheres, e só 18% viviam exclusivamente de conteúdo. Hoje, no Brasil, 91% dos jovens de 16 a 29 anos acompanham algum influenciador — e o mercado ficou mais profissional e orientado a performance. Um dado importante pra trazer pro cliente: 68% das pessoas já acham que tem influenciador demais, então curadoria importa mais do que nunca. Não é sobre aparecer, é sobre aparecer com critério.</a:t>
            </a:r>
          </a:p>
          <a:p/>
          <a:p>
            <a:r>
              <a:t>Na prática, isso vira um processo de quatro passos antes de fechar com alguém: primeiro, pesquisar antes — media kit, histórico com concorrente. Segundo, definir a compensação — cachê, comissão, ou permuta, sempre com limite claro. Terceiro, oferecer um diferencial quando o budget é curto, como evento exclusivo. E quarto, alinhar tudo por escrito, com os deliverables definidos antes de fechar.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Esses dois capítulos juntos formam praticamente um manual de como encontrar — e principalmente reter — o influenciador ideal. São seis passos.</a:t>
            </a:r>
          </a:p>
          <a:p/>
          <a:p>
            <a:r>
              <a:t>Primeiro: não procure sem meta. Antes de abrir qualquer plataforma, volta pro SMART que a gente viu antes.</a:t>
            </a:r>
          </a:p>
          <a:p/>
          <a:p>
            <a:r>
              <a:t>Segundo: pesquise onde a conversa já está acontecendo — hashtag do nicho, geotag da cidade, o que o concorrente já está fazendo.</a:t>
            </a:r>
          </a:p>
          <a:p/>
          <a:p>
            <a:r>
              <a:t>Terceiro, e esse eu acho o mais importante pra reforçar com o time: filtre por qualidade, não por número de seguidor. Engagement acima de 3% já é bom, acima de 10% é excelente. E se o perfil tem seguidor alto com engajamento baixo, isso é sinal de provável fraude.</a:t>
            </a:r>
          </a:p>
          <a:p/>
          <a:p>
            <a:r>
              <a:t>Quarto: construa relação antes de pedir qualquer coisa. Metade dos e-mails frios nem recebe resposta, então o ideal é prospectar o dobro do que você realmente precisa.</a:t>
            </a:r>
          </a:p>
          <a:p/>
          <a:p>
            <a:r>
              <a:t>Quinto: escolha o modelo certo de operação — outreach direto quando o budget é curto, plataforma quando precisa de escala, ou agência full-service quando o cliente é grande.</a:t>
            </a:r>
          </a:p>
          <a:p/>
          <a:p>
            <a:r>
              <a:t>E sexto, esse é o que eu acho que a gente mais deixa passar: não parar na campanha única. Transformar o criador em embaixador, com calendário recorrente e recompensa escalonada — indicação recorrente retém 37% melhor do que ação pontual.</a:t>
            </a:r>
          </a:p>
          <a:p/>
          <a:p>
            <a:r>
              <a:t>O Mike Alton resume o espírito de tudo isso numa frase que fecha bem o capítulo inteiro: a base do marketing de influência é construída em confiança — se essa confiança é traída, não existe conversão nenhuma. Todo esse processo existe pra proteger uma coisa só: a confiança que faz esse canal funcionar.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pra onde isso caminha, o livro traz três mudanças que já estão acontecendo na nossa realidade. Primeiro, o influenciador deixa de ser só um amplificador de mídia e passa a ser parte integral da estratégia desde o início. Segundo, vídeo domina o formato — quem não entrega TikTok ou Reels fica pra trás. E terceiro, a pergunta que o cliente faz muda: não é mais “quanto alcance isso teve”, é “dá pra confiar nesse dado”.</a:t>
            </a:r>
          </a:p>
          <a:p/>
          <a:p>
            <a:r>
              <a:t>O próprio Glenister resume isso em duas frases que eu gosto bastante: que o marketing de influência vai estar muito mais envolvido como algo integral do que como amplificador de mídia, e que a forma de contar histórias vai ter um papel cada vez maior à medida que as pessoas rejeitam os métodos tradicionais de propaganda.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 isso me leva direto pra métrica, que é onde a gente prova resultado de verdade. No Instagram, engajamento entre 3 e 6% já é considerado bom, acima de 10% é excelente. Mas o ponto principal do capítulo é esse: sair da métrica de vaidade — curtida, alcance — e ir pra custo por engajamento e custo por conversão real. CPE, não curtida.</a:t>
            </a:r>
          </a:p>
          <a:p/>
          <a:p>
            <a:r>
              <a:t>O livro também lista o que toda campanha viral bem-sucedida tem em comum: mensagem simples com CTA claro, conexão emocional real, presença em múltiplas plataformas, e comunicação contínua durante a campanha inteira — não é só postar e esquecer.</a:t>
            </a:r>
          </a:p>
          <a:p/>
          <a:p>
            <a:r>
              <a:t>E a regra prática que resume esse capítulo todo, e que vale a gente repetir toda vez que for propor uma campanha de influenciador: se não dá pra medir antes de começar, não é campanha, é aposta.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capítulo 11 traz um case especialmente parecido com a realidade dos nossos clientes: donos de um restaurante vegetariano em Londres, com budget mínimo, ofereceram refeição grátis pra influenciadores locais de nicho. Um único influenciador gerou quatro reservas de mesa depois disso. Isso prova, com um exemplo bem concreto, que esse formato funciona pra food service pequeno, mesmo com orçamento curto — que é literalmente o perfil de boa parte da nossa carteira.</a:t>
            </a:r>
          </a:p>
          <a:p/>
          <a:p>
            <a:r>
              <a:t>Mas o livro também traz o contraponto de risco: o caso do Fyre Festival. A Kendall Jenner recebeu 250 mil dólares por um post, o evento vendeu 95% dos ingressos em 48 horas — e foi o maior desastre de execução do setor. O aprendizado aqui é direto: influenciador vende expectativa; quem não entrega destrói a marca muito mais rápido do que qualquer post orgânico ruim teria destruído.</a:t>
            </a:r>
          </a:p>
          <a:p/>
          <a:p>
            <a:r>
              <a:t>E o motivo de eu trazer isso agora, especificamente: o food service brasileiro movimentou R$455 bilhões em 2024, e 46% dos operadores já priorizam marketing digital em 2025. Ou seja, o cliente já está pronto pra ouvir essa recomendação — a gente só precisa levar com o cuidado certo.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Então, juntando tudo isso, o que muda na prática pra gente.</a:t>
            </a:r>
          </a:p>
          <a:p/>
          <a:p>
            <a:r>
              <a:t>Pro lado Arttico: influencer marketing entra como canal com meta e métrica, exatamente igual a tráfego pago — nunca mais “vamos postar e ver no que dá”. E permuta continua sendo uma ferramenta legítima pra cliente pequeno, mas só com critério de seleção e um contrato mínimo por escrito, do jeito que a gente viu lá no capítulo 4.</a:t>
            </a:r>
          </a:p>
          <a:p/>
          <a:p>
            <a:r>
              <a:t>Pro lado Tastto: toda campanha precisa nascer com código promocional ou link rastreável — sem isso, a gente não consegue provar ROI na reunião do FIVE. O influenciador vira fonte de dado, não só de alcance: quantas mesas, quantos pedidos, qual prato teve mais menção. E o mais importante: food service é literalmente um dos setores que o próprio livro aponta como melhor encaixe pra esse formato — isso valida a gente recomendar isso com confiança pra carteira atual, não é uma aposta.</a:t>
            </a:r>
          </a:p>
          <a:p/>
          <a:p>
            <a:r>
              <a:t>E a regra geral que vale pros dois lados, sempre: aplicar o filtro SMART e o manual de seis passos antes de aplicar o filtro de “esse influenciador é fofo, tem muito seguidor”. Critério primeiro, feeling depois.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Resumindo tudo: o mercado de influenciador não cresceu à toa, ele profissionalizou. E se ele profissionalizou, o nosso direcionamento pro cliente precisa acompanhar isso — com meta, com critério de seleção, com contrato e com dado de verdade. É esse o padrão que eu quero que a gente leve daqui pra frente. Abre pra perguntas?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B4A5E"/>
            </a:gs>
          </a:gsLst>
          <a:lin scaled="0" ang="16200000"/>
        </a:gradFill>
        <a:effectLst/>
      </p:bgPr>
    </p:bg>
    <p:spTree>
      <p:nvGrpSpPr>
        <p:cNvPr id="1" name=""/>
        <p:cNvGrpSpPr/>
        <p:nvPr/>
      </p:nvGrpSpPr>
      <p:grpSpPr/>
      <p:sp>
        <p:nvSpPr>
          <p:cNvPr id="2" name="Right Arrow 1"/>
          <p:cNvSpPr/>
          <p:nvPr/>
        </p:nvSpPr>
        <p:spPr>
          <a:xfrm rot="18900000">
            <a:off x="5953125" y="1273492"/>
            <a:ext cx="285750" cy="120015"/>
          </a:xfrm>
          <a:prstGeom prst="rightArrow">
            <a:avLst>
              <a:gd name="adj1" fmla="val 55000"/>
              <a:gd name="adj2" fmla="val 55000"/>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1600200"/>
            <a:ext cx="10972800" cy="209550"/>
          </a:xfrm>
          <a:prstGeom prst="rect">
            <a:avLst/>
          </a:prstGeom>
          <a:noFill/>
        </p:spPr>
        <p:txBody>
          <a:bodyPr wrap="square" lIns="0" rIns="0" tIns="0" bIns="0">
            <a:noAutofit/>
          </a:bodyPr>
          <a:lstStyle/>
          <a:p>
            <a:pPr algn="ctr"/>
            <a:r>
              <a:rPr sz="1050" b="1" i="0" spc="100">
                <a:solidFill>
                  <a:srgbClr val="9A9AB8"/>
                </a:solidFill>
                <a:latin typeface="Inter"/>
              </a:rPr>
              <a:t>REUNIÃO INTERNA · ARTTICO &amp; TASTTO</a:t>
            </a:r>
          </a:p>
        </p:txBody>
      </p:sp>
      <p:sp>
        <p:nvSpPr>
          <p:cNvPr id="4" name="TextBox 3"/>
          <p:cNvSpPr txBox="1"/>
          <p:nvPr/>
        </p:nvSpPr>
        <p:spPr>
          <a:xfrm>
            <a:off x="609600" y="1924050"/>
            <a:ext cx="10972800" cy="1809750"/>
          </a:xfrm>
          <a:prstGeom prst="rect">
            <a:avLst/>
          </a:prstGeom>
          <a:noFill/>
        </p:spPr>
        <p:txBody>
          <a:bodyPr wrap="square" lIns="0" rIns="0" tIns="0" bIns="0">
            <a:noAutofit/>
          </a:bodyPr>
          <a:lstStyle/>
          <a:p>
            <a:pPr algn="ctr">
              <a:lnSpc>
                <a:spcPct val="115000"/>
              </a:lnSpc>
              <a:spcAft>
                <a:spcPts val="0"/>
              </a:spcAft>
            </a:pPr>
            <a:r>
              <a:rPr sz="2900" b="1" i="0">
                <a:solidFill>
                  <a:srgbClr val="FFFFFF"/>
                </a:solidFill>
                <a:latin typeface="Montserrat"/>
              </a:rPr>
              <a:t>O que o mercado de</a:t>
            </a:r>
          </a:p>
          <a:p>
            <a:pPr algn="ctr">
              <a:lnSpc>
                <a:spcPct val="115000"/>
              </a:lnSpc>
              <a:spcAft>
                <a:spcPts val="0"/>
              </a:spcAft>
            </a:pPr>
            <a:r>
              <a:rPr sz="2900" b="1" i="0">
                <a:solidFill>
                  <a:srgbClr val="FFFFFF"/>
                </a:solidFill>
                <a:latin typeface="Montserrat"/>
              </a:rPr>
              <a:t>influência ensina — e o que</a:t>
            </a:r>
          </a:p>
          <a:p>
            <a:pPr algn="ctr">
              <a:lnSpc>
                <a:spcPct val="115000"/>
              </a:lnSpc>
              <a:spcAft>
                <a:spcPts val="0"/>
              </a:spcAft>
            </a:pPr>
            <a:r>
              <a:rPr sz="2900" b="1" i="0">
                <a:solidFill>
                  <a:srgbClr val="FFFFFF"/>
                </a:solidFill>
                <a:latin typeface="Montserrat"/>
              </a:rPr>
              <a:t>isso muda no direcionamento</a:t>
            </a:r>
          </a:p>
          <a:p>
            <a:pPr algn="ctr">
              <a:lnSpc>
                <a:spcPct val="115000"/>
              </a:lnSpc>
              <a:spcAft>
                <a:spcPts val="0"/>
              </a:spcAft>
            </a:pPr>
            <a:r>
              <a:rPr sz="2900" b="1" i="0">
                <a:solidFill>
                  <a:srgbClr val="FFFFFF"/>
                </a:solidFill>
                <a:latin typeface="Montserrat"/>
              </a:rPr>
              <a:t>que damos pros clientes.</a:t>
            </a:r>
          </a:p>
        </p:txBody>
      </p:sp>
      <p:sp>
        <p:nvSpPr>
          <p:cNvPr id="5" name="TextBox 4"/>
          <p:cNvSpPr txBox="1"/>
          <p:nvPr/>
        </p:nvSpPr>
        <p:spPr>
          <a:xfrm>
            <a:off x="1943100" y="4000500"/>
            <a:ext cx="8305800" cy="476250"/>
          </a:xfrm>
          <a:prstGeom prst="rect">
            <a:avLst/>
          </a:prstGeom>
          <a:noFill/>
        </p:spPr>
        <p:txBody>
          <a:bodyPr wrap="square" lIns="0" rIns="0" tIns="0" bIns="0">
            <a:noAutofit/>
          </a:bodyPr>
          <a:lstStyle/>
          <a:p>
            <a:pPr algn="ctr">
              <a:lnSpc>
                <a:spcPct val="130000"/>
              </a:lnSpc>
              <a:spcAft>
                <a:spcPts val="0"/>
              </a:spcAft>
            </a:pPr>
            <a:r>
              <a:rPr sz="1450" b="0" i="0">
                <a:solidFill>
                  <a:srgbClr val="9A9AB8"/>
                </a:solidFill>
                <a:latin typeface="Inter"/>
              </a:rPr>
              <a:t>Baseado em </a:t>
            </a:r>
            <a:r>
              <a:rPr sz="1450" b="0" i="1">
                <a:solidFill>
                  <a:srgbClr val="9A9AB8"/>
                </a:solidFill>
                <a:latin typeface="Inter"/>
              </a:rPr>
              <a:t>Influencer Marketing Strategy</a:t>
            </a:r>
            <a:r>
              <a:rPr sz="1450" b="0" i="0">
                <a:solidFill>
                  <a:srgbClr val="9A9AB8"/>
                </a:solidFill>
                <a:latin typeface="Inter"/>
              </a:rPr>
              <a:t> (Gordon Glenister, 2021), mesclado com dados de mercado de 2025.</a:t>
            </a:r>
          </a:p>
        </p:txBody>
      </p:sp>
      <p:pic>
        <p:nvPicPr>
          <p:cNvPr id="6" name="Picture 5" descr="Logo Branca.png"/>
          <p:cNvPicPr>
            <a:picLocks noChangeAspect="1"/>
          </p:cNvPicPr>
          <p:nvPr/>
        </p:nvPicPr>
        <p:blipFill>
          <a:blip r:embed="rId2"/>
          <a:stretch>
            <a:fillRect/>
          </a:stretch>
        </p:blipFill>
        <p:spPr>
          <a:xfrm>
            <a:off x="5104621" y="4762500"/>
            <a:ext cx="1075765" cy="247650"/>
          </a:xfrm>
          <a:prstGeom prst="rect">
            <a:avLst/>
          </a:prstGeom>
        </p:spPr>
      </p:pic>
      <p:pic>
        <p:nvPicPr>
          <p:cNvPr id="7" name="Picture 6" descr="Logotipo Tastto-1.png"/>
          <p:cNvPicPr>
            <a:picLocks noChangeAspect="1"/>
          </p:cNvPicPr>
          <p:nvPr/>
        </p:nvPicPr>
        <p:blipFill>
          <a:blip r:embed="rId3"/>
          <a:stretch>
            <a:fillRect/>
          </a:stretch>
        </p:blipFill>
        <p:spPr>
          <a:xfrm>
            <a:off x="6647111" y="4762500"/>
            <a:ext cx="440267" cy="247650"/>
          </a:xfrm>
          <a:prstGeom prst="rect">
            <a:avLst/>
          </a:prstGeom>
        </p:spPr>
      </p:pic>
      <p:sp>
        <p:nvSpPr>
          <p:cNvPr id="8" name="Rectangle 7"/>
          <p:cNvSpPr/>
          <p:nvPr/>
        </p:nvSpPr>
        <p:spPr>
          <a:xfrm>
            <a:off x="6408986" y="4733925"/>
            <a:ext cx="9525" cy="304800"/>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02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INTRODUÇÃO · ~2 MIN</a:t>
            </a:r>
          </a:p>
        </p:txBody>
      </p:sp>
      <p:sp>
        <p:nvSpPr>
          <p:cNvPr id="6" name="TextBox 5"/>
          <p:cNvSpPr txBox="1"/>
          <p:nvPr/>
        </p:nvSpPr>
        <p:spPr>
          <a:xfrm>
            <a:off x="609600" y="647700"/>
            <a:ext cx="10972800" cy="476250"/>
          </a:xfrm>
          <a:prstGeom prst="rect">
            <a:avLst/>
          </a:prstGeom>
          <a:noFill/>
        </p:spPr>
        <p:txBody>
          <a:bodyPr wrap="square" lIns="0" rIns="0" tIns="0" bIns="0">
            <a:noAutofit/>
          </a:bodyPr>
          <a:lstStyle/>
          <a:p>
            <a:pPr algn="l">
              <a:lnSpc>
                <a:spcPct val="110000"/>
              </a:lnSpc>
            </a:pPr>
            <a:r>
              <a:rPr sz="2700" b="1" i="0">
                <a:solidFill>
                  <a:srgbClr val="FFFFFF"/>
                </a:solidFill>
                <a:latin typeface="Montserrat"/>
              </a:rPr>
              <a:t>O mercado não cresceu — ele profissionalizou.</a:t>
            </a:r>
          </a:p>
        </p:txBody>
      </p:sp>
      <p:sp>
        <p:nvSpPr>
          <p:cNvPr id="7" name="Rectangle 6"/>
          <p:cNvSpPr/>
          <p:nvPr/>
        </p:nvSpPr>
        <p:spPr>
          <a:xfrm>
            <a:off x="609600" y="1047750"/>
            <a:ext cx="419100" cy="285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609600" y="1238250"/>
          <a:ext cx="10972800" cy="1390650"/>
        </p:xfrm>
        <a:graphic>
          <a:graphicData uri="http://schemas.openxmlformats.org/drawingml/2006/table">
            <a:tbl>
              <a:tblPr firstRow="0" bandRow="0">
                <a:tableStyleId>{5C22544A-7EE6-4342-B048-85BDC9FD1C3A}</a:tableStyleId>
              </a:tblPr>
              <a:tblGrid>
                <a:gridCol w="2857500"/>
                <a:gridCol w="4057650"/>
                <a:gridCol w="4057650"/>
              </a:tblGrid>
              <a:tr h="304800">
                <a:tc>
                  <a:txBody>
                    <a:bodyPr lIns="95250" tIns="19050" bIns="19050"/>
                    <a:lstStyle/>
                    <a:p>
                      <a:r>
                        <a:rPr sz="1050" b="1">
                          <a:solidFill>
                            <a:srgbClr val="00002C"/>
                          </a:solidFill>
                          <a:latin typeface="Inter"/>
                        </a:rPr>
                        <a:t/>
                      </a:r>
                    </a:p>
                  </a:txBody>
                  <a:tcPr anchor="ctr">
                    <a:solidFill>
                      <a:srgbClr val="CCF9FF"/>
                    </a:solidFill>
                  </a:tcPr>
                </a:tc>
                <a:tc>
                  <a:txBody>
                    <a:bodyPr lIns="95250" tIns="19050" bIns="19050"/>
                    <a:lstStyle/>
                    <a:p>
                      <a:r>
                        <a:rPr sz="1050" b="1">
                          <a:solidFill>
                            <a:srgbClr val="00002C"/>
                          </a:solidFill>
                          <a:latin typeface="Inter"/>
                        </a:rPr>
                        <a:t>2019 (LIVRO)</a:t>
                      </a:r>
                    </a:p>
                  </a:txBody>
                  <a:tcPr anchor="ctr">
                    <a:solidFill>
                      <a:srgbClr val="CCF9FF"/>
                    </a:solidFill>
                  </a:tcPr>
                </a:tc>
                <a:tc>
                  <a:txBody>
                    <a:bodyPr lIns="95250" tIns="19050" bIns="19050"/>
                    <a:lstStyle/>
                    <a:p>
                      <a:r>
                        <a:rPr sz="1050" b="1">
                          <a:solidFill>
                            <a:srgbClr val="00002C"/>
                          </a:solidFill>
                          <a:latin typeface="Inter"/>
                        </a:rPr>
                        <a:t>2025 (ATUAL)</a:t>
                      </a:r>
                    </a:p>
                  </a:txBody>
                  <a:tcPr anchor="ctr">
                    <a:solidFill>
                      <a:srgbClr val="CCF9FF"/>
                    </a:solidFill>
                  </a:tcPr>
                </a:tc>
              </a:tr>
              <a:tr h="361950">
                <a:tc>
                  <a:txBody>
                    <a:bodyPr wrap="square" lIns="95250" rIns="57150" tIns="38100" bIns="38100"/>
                    <a:lstStyle/>
                    <a:p>
                      <a:pPr>
                        <a:lnSpc>
                          <a:spcPct val="115000"/>
                        </a:lnSpc>
                      </a:pPr>
                      <a:r>
                        <a:rPr sz="1250">
                          <a:solidFill>
                            <a:srgbClr val="E4E4F0"/>
                          </a:solidFill>
                          <a:latin typeface="Inter"/>
                        </a:rPr>
                        <a:t>Mercado global</a:t>
                      </a:r>
                    </a:p>
                  </a:txBody>
                  <a:tcPr anchor="ctr">
                    <a:solidFill>
                      <a:srgbClr val="0A0A3D"/>
                    </a:solidFill>
                  </a:tcPr>
                </a:tc>
                <a:tc>
                  <a:txBody>
                    <a:bodyPr wrap="square" lIns="95250" rIns="57150" tIns="38100" bIns="38100"/>
                    <a:lstStyle/>
                    <a:p>
                      <a:pPr>
                        <a:lnSpc>
                          <a:spcPct val="115000"/>
                        </a:lnSpc>
                      </a:pPr>
                      <a:r>
                        <a:rPr sz="1250">
                          <a:solidFill>
                            <a:srgbClr val="E4E4F0"/>
                          </a:solidFill>
                          <a:latin typeface="Inter"/>
                        </a:rPr>
                        <a:t>US$ 8 bi</a:t>
                      </a:r>
                    </a:p>
                  </a:txBody>
                  <a:tcPr anchor="ctr">
                    <a:solidFill>
                      <a:srgbClr val="0A0A3D"/>
                    </a:solidFill>
                  </a:tcPr>
                </a:tc>
                <a:tc>
                  <a:txBody>
                    <a:bodyPr wrap="square" lIns="95250" rIns="57150" tIns="38100" bIns="38100"/>
                    <a:lstStyle/>
                    <a:p>
                      <a:pPr>
                        <a:lnSpc>
                          <a:spcPct val="115000"/>
                        </a:lnSpc>
                      </a:pPr>
                      <a:r>
                        <a:rPr sz="1250">
                          <a:solidFill>
                            <a:srgbClr val="E4E4F0"/>
                          </a:solidFill>
                          <a:latin typeface="Inter"/>
                        </a:rPr>
                        <a:t>US$ 31–34 bi</a:t>
                      </a:r>
                    </a:p>
                  </a:txBody>
                  <a:tcPr anchor="ctr">
                    <a:solidFill>
                      <a:srgbClr val="0A0A3D"/>
                    </a:solidFill>
                  </a:tcPr>
                </a:tc>
              </a:tr>
              <a:tr h="361950">
                <a:tc>
                  <a:txBody>
                    <a:bodyPr wrap="square" lIns="95250" rIns="57150" tIns="38100" bIns="38100"/>
                    <a:lstStyle/>
                    <a:p>
                      <a:pPr>
                        <a:lnSpc>
                          <a:spcPct val="115000"/>
                        </a:lnSpc>
                      </a:pPr>
                      <a:r>
                        <a:rPr sz="1250">
                          <a:solidFill>
                            <a:srgbClr val="E4E4F0"/>
                          </a:solidFill>
                          <a:latin typeface="Inter"/>
                        </a:rPr>
                        <a:t>Retorno / adoção</a:t>
                      </a:r>
                    </a:p>
                  </a:txBody>
                  <a:tcPr anchor="ctr">
                    <a:solidFill>
                      <a:srgbClr val="071235"/>
                    </a:solidFill>
                  </a:tcPr>
                </a:tc>
                <a:tc>
                  <a:txBody>
                    <a:bodyPr wrap="square" lIns="95250" rIns="57150" tIns="38100" bIns="38100"/>
                    <a:lstStyle/>
                    <a:p>
                      <a:pPr>
                        <a:lnSpc>
                          <a:spcPct val="115000"/>
                        </a:lnSpc>
                      </a:pPr>
                      <a:r>
                        <a:rPr sz="1250">
                          <a:solidFill>
                            <a:srgbClr val="E4E4F0"/>
                          </a:solidFill>
                          <a:latin typeface="Inter"/>
                        </a:rPr>
                        <a:t>$5,20 por $1 investido</a:t>
                      </a:r>
                    </a:p>
                  </a:txBody>
                  <a:tcPr anchor="ctr">
                    <a:solidFill>
                      <a:srgbClr val="071235"/>
                    </a:solidFill>
                  </a:tcPr>
                </a:tc>
                <a:tc>
                  <a:txBody>
                    <a:bodyPr wrap="square" lIns="95250" rIns="57150" tIns="38100" bIns="38100"/>
                    <a:lstStyle/>
                    <a:p>
                      <a:pPr>
                        <a:lnSpc>
                          <a:spcPct val="115000"/>
                        </a:lnSpc>
                      </a:pPr>
                      <a:r>
                        <a:rPr sz="1250">
                          <a:solidFill>
                            <a:srgbClr val="E4E4F0"/>
                          </a:solidFill>
                          <a:latin typeface="Inter"/>
                        </a:rPr>
                        <a:t>75% das empresas já usam</a:t>
                      </a:r>
                    </a:p>
                  </a:txBody>
                  <a:tcPr anchor="ctr">
                    <a:solidFill>
                      <a:srgbClr val="071235"/>
                    </a:solidFill>
                  </a:tcPr>
                </a:tc>
              </a:tr>
              <a:tr h="361950">
                <a:tc>
                  <a:txBody>
                    <a:bodyPr wrap="square" lIns="95250" rIns="57150" tIns="38100" bIns="38100"/>
                    <a:lstStyle/>
                    <a:p>
                      <a:pPr>
                        <a:lnSpc>
                          <a:spcPct val="115000"/>
                        </a:lnSpc>
                      </a:pPr>
                      <a:r>
                        <a:rPr sz="1250">
                          <a:solidFill>
                            <a:srgbClr val="E4E4F0"/>
                          </a:solidFill>
                          <a:latin typeface="Inter"/>
                        </a:rPr>
                        <a:t>Brasil</a:t>
                      </a:r>
                    </a:p>
                  </a:txBody>
                  <a:tcPr anchor="ctr">
                    <a:solidFill>
                      <a:srgbClr val="0A0A3D"/>
                    </a:solidFill>
                  </a:tcPr>
                </a:tc>
                <a:tc>
                  <a:txBody>
                    <a:bodyPr wrap="square" lIns="95250" rIns="57150" tIns="38100" bIns="38100"/>
                    <a:lstStyle/>
                    <a:p>
                      <a:pPr>
                        <a:lnSpc>
                          <a:spcPct val="115000"/>
                        </a:lnSpc>
                      </a:pPr>
                      <a:r>
                        <a:rPr sz="1250">
                          <a:solidFill>
                            <a:srgbClr val="E4E4F0"/>
                          </a:solidFill>
                          <a:latin typeface="Inter"/>
                        </a:rPr>
                        <a:t>não mensurado no livro</a:t>
                      </a:r>
                    </a:p>
                  </a:txBody>
                  <a:tcPr anchor="ctr">
                    <a:solidFill>
                      <a:srgbClr val="0A0A3D"/>
                    </a:solidFill>
                  </a:tcPr>
                </a:tc>
                <a:tc>
                  <a:txBody>
                    <a:bodyPr wrap="square" lIns="95250" rIns="57150" tIns="38100" bIns="38100"/>
                    <a:lstStyle/>
                    <a:p>
                      <a:pPr>
                        <a:lnSpc>
                          <a:spcPct val="115000"/>
                        </a:lnSpc>
                      </a:pPr>
                      <a:r>
                        <a:rPr sz="1250">
                          <a:solidFill>
                            <a:srgbClr val="E4E4F0"/>
                          </a:solidFill>
                          <a:latin typeface="Inter"/>
                        </a:rPr>
                        <a:t>2,1 milhões de criadores</a:t>
                      </a:r>
                    </a:p>
                  </a:txBody>
                  <a:tcPr anchor="ctr">
                    <a:solidFill>
                      <a:srgbClr val="0A0A3D"/>
                    </a:solidFill>
                  </a:tcPr>
                </a:tc>
              </a:tr>
            </a:tbl>
          </a:graphicData>
        </a:graphic>
      </p:graphicFrame>
      <p:sp>
        <p:nvSpPr>
          <p:cNvPr id="9" name="Rounded Rectangle 8"/>
          <p:cNvSpPr/>
          <p:nvPr/>
        </p:nvSpPr>
        <p:spPr>
          <a:xfrm>
            <a:off x="609600" y="3048000"/>
            <a:ext cx="5372100" cy="32004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050" y="3219450"/>
            <a:ext cx="5029200" cy="247650"/>
          </a:xfrm>
          <a:prstGeom prst="rect">
            <a:avLst/>
          </a:prstGeom>
          <a:noFill/>
        </p:spPr>
        <p:txBody>
          <a:bodyPr wrap="square" lIns="0" rIns="0" tIns="0" bIns="0">
            <a:noAutofit/>
          </a:bodyPr>
          <a:lstStyle/>
          <a:p>
            <a:pPr algn="l"/>
            <a:r>
              <a:rPr sz="1500" b="1" i="0">
                <a:solidFill>
                  <a:srgbClr val="FFFFFF"/>
                </a:solidFill>
                <a:latin typeface="Montserrat"/>
              </a:rPr>
              <a:t>A migração de confiança</a:t>
            </a:r>
          </a:p>
        </p:txBody>
      </p:sp>
      <p:sp>
        <p:nvSpPr>
          <p:cNvPr id="11" name="TextBox 10"/>
          <p:cNvSpPr txBox="1"/>
          <p:nvPr/>
        </p:nvSpPr>
        <p:spPr>
          <a:xfrm>
            <a:off x="781050" y="3505200"/>
            <a:ext cx="5029200" cy="260985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Millennials e Gen Z desconfiam por padrão de mídia tradicional e confiam por padrão em “gente como a gente” — isso é comportamento de compra: </a:t>
            </a:r>
            <a:r>
              <a:rPr sz="1300" b="1" i="0">
                <a:solidFill>
                  <a:srgbClr val="FFFFFF"/>
                </a:solidFill>
                <a:latin typeface="Inter"/>
              </a:rPr>
              <a:t>58% dos brasileiros já compraram algo por indicação direta de um criador.</a:t>
            </a:r>
          </a:p>
          <a:p>
            <a:pPr algn="l">
              <a:lnSpc>
                <a:spcPct val="130000"/>
              </a:lnSpc>
              <a:spcAft>
                <a:spcPts val="800"/>
              </a:spcAft>
            </a:pPr>
            <a:r>
              <a:rPr sz="1300" b="0" i="0">
                <a:solidFill>
                  <a:srgbClr val="9A9AB8"/>
                </a:solidFill>
                <a:latin typeface="Inter"/>
              </a:rPr>
              <a:t>Cases fundadores: Airbnb cresceu com influenciadores locais antes de ter mídia tradicional · Glossier nasceu de um blog e virou marca bilionária · Estée Lauder (marca centenária) já destina 75% do orçamento de marketing pra digital/influenciadores.</a:t>
            </a:r>
          </a:p>
          <a:p>
            <a:pPr algn="l">
              <a:lnSpc>
                <a:spcPct val="130000"/>
              </a:lnSpc>
              <a:spcAft>
                <a:spcPts val="800"/>
              </a:spcAft>
            </a:pPr>
            <a:r>
              <a:rPr sz="1300" b="0" i="0">
                <a:solidFill>
                  <a:srgbClr val="9A9AB8"/>
                </a:solidFill>
                <a:latin typeface="Inter"/>
              </a:rPr>
              <a:t>Marco da pandemia: mídia tradicional parou, toda marca testou influenciador — o “teste” virou linha de orçamento permanente.</a:t>
            </a:r>
          </a:p>
        </p:txBody>
      </p:sp>
      <p:sp>
        <p:nvSpPr>
          <p:cNvPr id="12" name="Rounded Rectangle 11"/>
          <p:cNvSpPr/>
          <p:nvPr/>
        </p:nvSpPr>
        <p:spPr>
          <a:xfrm>
            <a:off x="6210300" y="3048000"/>
            <a:ext cx="5372100" cy="32004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81750" y="3219450"/>
            <a:ext cx="5715" cy="2857500"/>
          </a:xfrm>
          <a:prstGeom prst="rect">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3200" y="3219450"/>
            <a:ext cx="4857750" cy="2857500"/>
          </a:xfrm>
          <a:prstGeom prst="rect">
            <a:avLst/>
          </a:prstGeom>
          <a:noFill/>
        </p:spPr>
        <p:txBody>
          <a:bodyPr wrap="square" lIns="0" rIns="0">
            <a:noAutofit/>
          </a:bodyPr>
          <a:lstStyle/>
          <a:p>
            <a:pPr>
              <a:lnSpc>
                <a:spcPct val="135000"/>
              </a:lnSpc>
              <a:spcAft>
                <a:spcPts val="1000"/>
              </a:spcAft>
            </a:pPr>
            <a:r>
              <a:rPr i="1" sz="1600">
                <a:solidFill>
                  <a:srgbClr val="FFFFFF"/>
                </a:solidFill>
                <a:latin typeface="Inter"/>
              </a:rPr>
              <a:t>“Consumidores, instituições, não gozam mais da nossa confiança cega. Nem os grandes negócios. Nem a mídia. Nós ainda confiamos, porém, em pessoas como nós.”</a:t>
            </a:r>
          </a:p>
          <a:p>
            <a:r>
              <a:rPr b="1" sz="1100">
                <a:solidFill>
                  <a:srgbClr val="A3E3F0"/>
                </a:solidFill>
                <a:latin typeface="Inter"/>
              </a:rPr>
              <a:t>SCOTT GUTHRIE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03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 1 · O QUE É INFLUENCER MARKETING · ~1,5 MIN</a:t>
            </a:r>
          </a:p>
        </p:txBody>
      </p:sp>
      <p:sp>
        <p:nvSpPr>
          <p:cNvPr id="6" name="Rectangle 5"/>
          <p:cNvSpPr/>
          <p:nvPr/>
        </p:nvSpPr>
        <p:spPr>
          <a:xfrm>
            <a:off x="609600" y="666750"/>
            <a:ext cx="5715" cy="1047750"/>
          </a:xfrm>
          <a:prstGeom prst="rect">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050" y="666750"/>
            <a:ext cx="10801350" cy="1047750"/>
          </a:xfrm>
          <a:prstGeom prst="rect">
            <a:avLst/>
          </a:prstGeom>
          <a:noFill/>
        </p:spPr>
        <p:txBody>
          <a:bodyPr wrap="square" lIns="0" rIns="0">
            <a:noAutofit/>
          </a:bodyPr>
          <a:lstStyle/>
          <a:p>
            <a:pPr>
              <a:lnSpc>
                <a:spcPct val="135000"/>
              </a:lnSpc>
              <a:spcAft>
                <a:spcPts val="1000"/>
              </a:spcAft>
            </a:pPr>
            <a:r>
              <a:rPr i="1" sz="2100">
                <a:solidFill>
                  <a:srgbClr val="FFFFFF"/>
                </a:solidFill>
                <a:latin typeface="Inter"/>
              </a:rPr>
              <a:t>“Um influenciador é um indivíduo que pode efetuar mudança no comportamento de outros, frequentemente através de opinião confiável, conhecimento e criação de conteúdo.”</a:t>
            </a:r>
          </a:p>
          <a:p>
            <a:r>
              <a:rPr b="1" sz="1200">
                <a:solidFill>
                  <a:srgbClr val="A3E3F0"/>
                </a:solidFill>
                <a:latin typeface="Inter"/>
              </a:rPr>
              <a:t>GORDON GLENISTER</a:t>
            </a:r>
          </a:p>
        </p:txBody>
      </p:sp>
      <p:sp>
        <p:nvSpPr>
          <p:cNvPr id="8" name="Rounded Rectangle 7"/>
          <p:cNvSpPr/>
          <p:nvPr/>
        </p:nvSpPr>
        <p:spPr>
          <a:xfrm>
            <a:off x="609600" y="2000250"/>
            <a:ext cx="3505200" cy="1333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050" y="2152650"/>
            <a:ext cx="3162300" cy="381000"/>
          </a:xfrm>
          <a:prstGeom prst="rect">
            <a:avLst/>
          </a:prstGeom>
          <a:noFill/>
        </p:spPr>
        <p:txBody>
          <a:bodyPr wrap="square" lIns="0" rIns="0" tIns="0" bIns="0">
            <a:noAutofit/>
          </a:bodyPr>
          <a:lstStyle/>
          <a:p>
            <a:pPr algn="l"/>
            <a:r>
              <a:rPr sz="2500" b="1" i="0">
                <a:solidFill>
                  <a:srgbClr val="A3E3F0"/>
                </a:solidFill>
                <a:latin typeface="Montserrat"/>
              </a:rPr>
              <a:t>51%</a:t>
            </a:r>
          </a:p>
        </p:txBody>
      </p:sp>
      <p:sp>
        <p:nvSpPr>
          <p:cNvPr id="10" name="TextBox 9"/>
          <p:cNvSpPr txBox="1"/>
          <p:nvPr/>
        </p:nvSpPr>
        <p:spPr>
          <a:xfrm>
            <a:off x="781050" y="2552700"/>
            <a:ext cx="3162300" cy="66675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seguem criador pra aprender algo novo</a:t>
            </a:r>
          </a:p>
        </p:txBody>
      </p:sp>
      <p:sp>
        <p:nvSpPr>
          <p:cNvPr id="11" name="Rounded Rectangle 10"/>
          <p:cNvSpPr/>
          <p:nvPr/>
        </p:nvSpPr>
        <p:spPr>
          <a:xfrm>
            <a:off x="4343400" y="2000250"/>
            <a:ext cx="3505200" cy="1333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4850" y="2152650"/>
            <a:ext cx="3162300" cy="381000"/>
          </a:xfrm>
          <a:prstGeom prst="rect">
            <a:avLst/>
          </a:prstGeom>
          <a:noFill/>
        </p:spPr>
        <p:txBody>
          <a:bodyPr wrap="square" lIns="0" rIns="0" tIns="0" bIns="0">
            <a:noAutofit/>
          </a:bodyPr>
          <a:lstStyle/>
          <a:p>
            <a:pPr algn="l"/>
            <a:r>
              <a:rPr sz="2500" b="1" i="0">
                <a:solidFill>
                  <a:srgbClr val="A3E3F0"/>
                </a:solidFill>
                <a:latin typeface="Montserrat"/>
              </a:rPr>
              <a:t>49%</a:t>
            </a:r>
          </a:p>
        </p:txBody>
      </p:sp>
      <p:sp>
        <p:nvSpPr>
          <p:cNvPr id="13" name="TextBox 12"/>
          <p:cNvSpPr txBox="1"/>
          <p:nvPr/>
        </p:nvSpPr>
        <p:spPr>
          <a:xfrm>
            <a:off x="4514850" y="2552700"/>
            <a:ext cx="3162300" cy="66675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seguem por entretenimento</a:t>
            </a:r>
          </a:p>
        </p:txBody>
      </p:sp>
      <p:sp>
        <p:nvSpPr>
          <p:cNvPr id="14" name="Rounded Rectangle 13"/>
          <p:cNvSpPr/>
          <p:nvPr/>
        </p:nvSpPr>
        <p:spPr>
          <a:xfrm>
            <a:off x="8077200" y="2000250"/>
            <a:ext cx="3505200" cy="1333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8650" y="2171700"/>
            <a:ext cx="3162300" cy="247650"/>
          </a:xfrm>
          <a:prstGeom prst="rect">
            <a:avLst/>
          </a:prstGeom>
          <a:noFill/>
        </p:spPr>
        <p:txBody>
          <a:bodyPr wrap="square" lIns="0" rIns="0" tIns="0" bIns="0">
            <a:noAutofit/>
          </a:bodyPr>
          <a:lstStyle/>
          <a:p>
            <a:pPr algn="l"/>
            <a:r>
              <a:rPr sz="1500" b="1" i="0">
                <a:solidFill>
                  <a:srgbClr val="FFFFFF"/>
                </a:solidFill>
                <a:latin typeface="Montserrat"/>
              </a:rPr>
              <a:t>Desde a pandemia</a:t>
            </a:r>
          </a:p>
        </p:txBody>
      </p:sp>
      <p:sp>
        <p:nvSpPr>
          <p:cNvPr id="16" name="TextBox 15"/>
          <p:cNvSpPr txBox="1"/>
          <p:nvPr/>
        </p:nvSpPr>
        <p:spPr>
          <a:xfrm>
            <a:off x="8248650" y="2457450"/>
            <a:ext cx="3162300" cy="74295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Confiabilidade (trustworthiness) virou o traço #1 mais valorizado — à frente de humor e criatividade.</a:t>
            </a:r>
          </a:p>
        </p:txBody>
      </p:sp>
      <p:sp>
        <p:nvSpPr>
          <p:cNvPr id="17" name="TextBox 16"/>
          <p:cNvSpPr txBox="1"/>
          <p:nvPr/>
        </p:nvSpPr>
        <p:spPr>
          <a:xfrm>
            <a:off x="609600" y="3667125"/>
            <a:ext cx="5372100" cy="2095500"/>
          </a:xfrm>
          <a:prstGeom prst="rect">
            <a:avLst/>
          </a:prstGeom>
          <a:noFill/>
        </p:spPr>
        <p:txBody>
          <a:bodyPr wrap="square" lIns="0" rIns="0" tIns="0" bIns="0">
            <a:noAutofit/>
          </a:bodyPr>
          <a:lstStyle/>
          <a:p>
            <a:pPr algn="l">
              <a:lnSpc>
                <a:spcPct val="140000"/>
              </a:lnSpc>
              <a:spcAft>
                <a:spcPts val="800"/>
              </a:spcAft>
            </a:pPr>
            <a:r>
              <a:rPr sz="1500" b="0" i="0">
                <a:solidFill>
                  <a:srgbClr val="E4E4F0"/>
                </a:solidFill>
                <a:latin typeface="Inter"/>
              </a:rPr>
              <a:t>Não é: endosso de celebridade, nem affiliate, nem referral marketing puro. São primos, não sinônimos — vale alinhar o vocabulário internamente.</a:t>
            </a:r>
          </a:p>
        </p:txBody>
      </p:sp>
      <p:sp>
        <p:nvSpPr>
          <p:cNvPr id="18" name="Rounded Rectangle 17"/>
          <p:cNvSpPr/>
          <p:nvPr/>
        </p:nvSpPr>
        <p:spPr>
          <a:xfrm>
            <a:off x="6210300" y="3667125"/>
            <a:ext cx="5372100" cy="2095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81750" y="3838575"/>
            <a:ext cx="5715" cy="1752600"/>
          </a:xfrm>
          <a:prstGeom prst="rect">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53200" y="3838575"/>
            <a:ext cx="4857750" cy="1752600"/>
          </a:xfrm>
          <a:prstGeom prst="rect">
            <a:avLst/>
          </a:prstGeom>
          <a:noFill/>
        </p:spPr>
        <p:txBody>
          <a:bodyPr wrap="square" lIns="0" rIns="0">
            <a:noAutofit/>
          </a:bodyPr>
          <a:lstStyle/>
          <a:p>
            <a:pPr>
              <a:lnSpc>
                <a:spcPct val="135000"/>
              </a:lnSpc>
              <a:spcAft>
                <a:spcPts val="1000"/>
              </a:spcAft>
            </a:pPr>
            <a:r>
              <a:rPr i="1" sz="1350">
                <a:solidFill>
                  <a:srgbClr val="FFFFFF"/>
                </a:solidFill>
                <a:latin typeface="Inter"/>
              </a:rPr>
              <a:t>“90% das marcas abordam influenciadores com algo do tipo: ‘Quanto você cobra pra repetir o que eu digo, palavra por palavra?’ Isso é só spam disfarçado.”</a:t>
            </a:r>
          </a:p>
          <a:p>
            <a:r>
              <a:rPr b="1" sz="1050">
                <a:solidFill>
                  <a:srgbClr val="A3E3F0"/>
                </a:solidFill>
                <a:latin typeface="Inter"/>
              </a:rPr>
              <a:t>JASON FALLS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04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 2 · PLATAFORMAS EM ALTA · ~1 MIN</a:t>
            </a:r>
          </a:p>
        </p:txBody>
      </p:sp>
      <p:sp>
        <p:nvSpPr>
          <p:cNvPr id="6" name="TextBox 5"/>
          <p:cNvSpPr txBox="1"/>
          <p:nvPr/>
        </p:nvSpPr>
        <p:spPr>
          <a:xfrm>
            <a:off x="609600" y="647700"/>
            <a:ext cx="10972800" cy="476250"/>
          </a:xfrm>
          <a:prstGeom prst="rect">
            <a:avLst/>
          </a:prstGeom>
          <a:noFill/>
        </p:spPr>
        <p:txBody>
          <a:bodyPr wrap="square" lIns="0" rIns="0" tIns="0" bIns="0">
            <a:noAutofit/>
          </a:bodyPr>
          <a:lstStyle/>
          <a:p>
            <a:pPr algn="l">
              <a:lnSpc>
                <a:spcPct val="110000"/>
              </a:lnSpc>
            </a:pPr>
            <a:r>
              <a:rPr sz="2500" b="1" i="0">
                <a:solidFill>
                  <a:srgbClr val="FFFFFF"/>
                </a:solidFill>
                <a:latin typeface="Montserrat"/>
              </a:rPr>
              <a:t>Onde investir atenção agora</a:t>
            </a:r>
          </a:p>
        </p:txBody>
      </p:sp>
      <p:sp>
        <p:nvSpPr>
          <p:cNvPr id="7" name="Rectangle 6"/>
          <p:cNvSpPr/>
          <p:nvPr/>
        </p:nvSpPr>
        <p:spPr>
          <a:xfrm>
            <a:off x="609600" y="1047750"/>
            <a:ext cx="419100" cy="285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9600" y="1333500"/>
            <a:ext cx="2600325" cy="2000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050" y="1504950"/>
            <a:ext cx="2257425" cy="247650"/>
          </a:xfrm>
          <a:prstGeom prst="rect">
            <a:avLst/>
          </a:prstGeom>
          <a:noFill/>
        </p:spPr>
        <p:txBody>
          <a:bodyPr wrap="square" lIns="0" rIns="0" tIns="0" bIns="0">
            <a:noAutofit/>
          </a:bodyPr>
          <a:lstStyle/>
          <a:p>
            <a:pPr algn="l"/>
            <a:r>
              <a:rPr sz="1500" b="1" i="0">
                <a:solidFill>
                  <a:srgbClr val="FFFFFF"/>
                </a:solidFill>
                <a:latin typeface="Montserrat"/>
              </a:rPr>
              <a:t>Instagram</a:t>
            </a:r>
          </a:p>
        </p:txBody>
      </p:sp>
      <p:sp>
        <p:nvSpPr>
          <p:cNvPr id="10" name="TextBox 9"/>
          <p:cNvSpPr txBox="1"/>
          <p:nvPr/>
        </p:nvSpPr>
        <p:spPr>
          <a:xfrm>
            <a:off x="781050" y="1790700"/>
            <a:ext cx="2257425" cy="140970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Motor de conversão via Shopping tags — nº1 pra parceria paga.</a:t>
            </a:r>
          </a:p>
        </p:txBody>
      </p:sp>
      <p:sp>
        <p:nvSpPr>
          <p:cNvPr id="11" name="Rounded Rectangle 10"/>
          <p:cNvSpPr/>
          <p:nvPr/>
        </p:nvSpPr>
        <p:spPr>
          <a:xfrm>
            <a:off x="3400425" y="1333500"/>
            <a:ext cx="2600325" cy="2000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1875" y="1504950"/>
            <a:ext cx="2257425" cy="247650"/>
          </a:xfrm>
          <a:prstGeom prst="rect">
            <a:avLst/>
          </a:prstGeom>
          <a:noFill/>
        </p:spPr>
        <p:txBody>
          <a:bodyPr wrap="square" lIns="0" rIns="0" tIns="0" bIns="0">
            <a:noAutofit/>
          </a:bodyPr>
          <a:lstStyle/>
          <a:p>
            <a:pPr algn="l"/>
            <a:r>
              <a:rPr sz="1500" b="1" i="0">
                <a:solidFill>
                  <a:srgbClr val="FFFFFF"/>
                </a:solidFill>
                <a:latin typeface="Montserrat"/>
              </a:rPr>
              <a:t>TikTok</a:t>
            </a:r>
          </a:p>
        </p:txBody>
      </p:sp>
      <p:sp>
        <p:nvSpPr>
          <p:cNvPr id="13" name="TextBox 12"/>
          <p:cNvSpPr txBox="1"/>
          <p:nvPr/>
        </p:nvSpPr>
        <p:spPr>
          <a:xfrm>
            <a:off x="3571875" y="1790700"/>
            <a:ext cx="2257425" cy="140970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A que mais cresce; exige a maior liberdade criativa do criador.</a:t>
            </a:r>
          </a:p>
        </p:txBody>
      </p:sp>
      <p:sp>
        <p:nvSpPr>
          <p:cNvPr id="14" name="Rounded Rectangle 13"/>
          <p:cNvSpPr/>
          <p:nvPr/>
        </p:nvSpPr>
        <p:spPr>
          <a:xfrm>
            <a:off x="6191250" y="1333500"/>
            <a:ext cx="2600325" cy="2000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2700" y="1504950"/>
            <a:ext cx="2257425" cy="247650"/>
          </a:xfrm>
          <a:prstGeom prst="rect">
            <a:avLst/>
          </a:prstGeom>
          <a:noFill/>
        </p:spPr>
        <p:txBody>
          <a:bodyPr wrap="square" lIns="0" rIns="0" tIns="0" bIns="0">
            <a:noAutofit/>
          </a:bodyPr>
          <a:lstStyle/>
          <a:p>
            <a:pPr algn="l"/>
            <a:r>
              <a:rPr sz="1500" b="1" i="0">
                <a:solidFill>
                  <a:srgbClr val="FFFFFF"/>
                </a:solidFill>
                <a:latin typeface="Montserrat"/>
              </a:rPr>
              <a:t>YouTube</a:t>
            </a:r>
          </a:p>
        </p:txBody>
      </p:sp>
      <p:sp>
        <p:nvSpPr>
          <p:cNvPr id="16" name="TextBox 15"/>
          <p:cNvSpPr txBox="1"/>
          <p:nvPr/>
        </p:nvSpPr>
        <p:spPr>
          <a:xfrm>
            <a:off x="6362700" y="1790700"/>
            <a:ext cx="2257425" cy="1409700"/>
          </a:xfrm>
          <a:prstGeom prst="rect">
            <a:avLst/>
          </a:prstGeom>
          <a:noFill/>
        </p:spPr>
        <p:txBody>
          <a:bodyPr wrap="square" lIns="0" rIns="0" tIns="0" bIns="0">
            <a:noAutofit/>
          </a:bodyPr>
          <a:lstStyle/>
          <a:p>
            <a:pPr algn="l">
              <a:lnSpc>
                <a:spcPct val="130000"/>
              </a:lnSpc>
              <a:spcAft>
                <a:spcPts val="800"/>
              </a:spcAft>
            </a:pPr>
            <a:r>
              <a:rPr sz="1300" b="1" i="0">
                <a:solidFill>
                  <a:srgbClr val="A3E3F0"/>
                </a:solidFill>
                <a:latin typeface="Montserrat"/>
              </a:rPr>
              <a:t>70% </a:t>
            </a:r>
            <a:r>
              <a:rPr sz="1300" b="0" i="0">
                <a:solidFill>
                  <a:srgbClr val="9A9AB8"/>
                </a:solidFill>
                <a:latin typeface="Inter"/>
              </a:rPr>
              <a:t>do watch time é mobile — autenticidade &gt; produção cara.</a:t>
            </a:r>
          </a:p>
        </p:txBody>
      </p:sp>
      <p:sp>
        <p:nvSpPr>
          <p:cNvPr id="17" name="Rounded Rectangle 16"/>
          <p:cNvSpPr/>
          <p:nvPr/>
        </p:nvSpPr>
        <p:spPr>
          <a:xfrm>
            <a:off x="8982075" y="1333500"/>
            <a:ext cx="2600325" cy="2000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53525" y="1504950"/>
            <a:ext cx="2257425" cy="247650"/>
          </a:xfrm>
          <a:prstGeom prst="rect">
            <a:avLst/>
          </a:prstGeom>
          <a:noFill/>
        </p:spPr>
        <p:txBody>
          <a:bodyPr wrap="square" lIns="0" rIns="0" tIns="0" bIns="0">
            <a:noAutofit/>
          </a:bodyPr>
          <a:lstStyle/>
          <a:p>
            <a:pPr algn="l"/>
            <a:r>
              <a:rPr sz="1500" b="1" i="0">
                <a:solidFill>
                  <a:srgbClr val="FFFFFF"/>
                </a:solidFill>
                <a:latin typeface="Montserrat"/>
              </a:rPr>
              <a:t>Twitter/X</a:t>
            </a:r>
          </a:p>
        </p:txBody>
      </p:sp>
      <p:sp>
        <p:nvSpPr>
          <p:cNvPr id="19" name="TextBox 18"/>
          <p:cNvSpPr txBox="1"/>
          <p:nvPr/>
        </p:nvSpPr>
        <p:spPr>
          <a:xfrm>
            <a:off x="9153525" y="1790700"/>
            <a:ext cx="2257425" cy="1409700"/>
          </a:xfrm>
          <a:prstGeom prst="rect">
            <a:avLst/>
          </a:prstGeom>
          <a:noFill/>
        </p:spPr>
        <p:txBody>
          <a:bodyPr wrap="square" lIns="0" rIns="0" tIns="0" bIns="0">
            <a:noAutofit/>
          </a:bodyPr>
          <a:lstStyle/>
          <a:p>
            <a:pPr algn="l">
              <a:lnSpc>
                <a:spcPct val="130000"/>
              </a:lnSpc>
              <a:spcAft>
                <a:spcPts val="800"/>
              </a:spcAft>
            </a:pPr>
            <a:r>
              <a:rPr sz="1300" b="1" i="0">
                <a:solidFill>
                  <a:srgbClr val="A3E3F0"/>
                </a:solidFill>
                <a:latin typeface="Montserrat"/>
              </a:rPr>
              <a:t>40% </a:t>
            </a:r>
            <a:r>
              <a:rPr sz="1300" b="0" i="0">
                <a:solidFill>
                  <a:srgbClr val="9A9AB8"/>
                </a:solidFill>
                <a:latin typeface="Inter"/>
              </a:rPr>
              <a:t>dos usuários já compraram por causa de um tweet de influenciador.</a:t>
            </a:r>
          </a:p>
        </p:txBody>
      </p:sp>
      <p:sp>
        <p:nvSpPr>
          <p:cNvPr id="20" name="Rounded Rectangle 19"/>
          <p:cNvSpPr/>
          <p:nvPr/>
        </p:nvSpPr>
        <p:spPr>
          <a:xfrm>
            <a:off x="609600" y="3619500"/>
            <a:ext cx="10972800" cy="857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1050" y="3790950"/>
            <a:ext cx="1905000" cy="228600"/>
          </a:xfrm>
          <a:prstGeom prst="rect">
            <a:avLst/>
          </a:prstGeom>
          <a:noFill/>
        </p:spPr>
        <p:txBody>
          <a:bodyPr wrap="square" lIns="0" rIns="0" tIns="0" bIns="0">
            <a:noAutofit/>
          </a:bodyPr>
          <a:lstStyle/>
          <a:p>
            <a:pPr algn="l"/>
            <a:r>
              <a:rPr sz="1050" b="1" i="0" spc="60">
                <a:solidFill>
                  <a:srgbClr val="A3E3F0"/>
                </a:solidFill>
                <a:latin typeface="Inter"/>
              </a:rPr>
              <a:t>FRAMEWORK</a:t>
            </a:r>
          </a:p>
        </p:txBody>
      </p:sp>
      <p:sp>
        <p:nvSpPr>
          <p:cNvPr id="22" name="TextBox 21"/>
          <p:cNvSpPr txBox="1"/>
          <p:nvPr/>
        </p:nvSpPr>
        <p:spPr>
          <a:xfrm>
            <a:off x="781050" y="4019550"/>
            <a:ext cx="10629900" cy="381000"/>
          </a:xfrm>
          <a:prstGeom prst="rect">
            <a:avLst/>
          </a:prstGeom>
          <a:noFill/>
        </p:spPr>
        <p:txBody>
          <a:bodyPr wrap="square" lIns="0" rIns="0" tIns="0" bIns="0">
            <a:noAutofit/>
          </a:bodyPr>
          <a:lstStyle/>
          <a:p>
            <a:pPr algn="l">
              <a:lnSpc>
                <a:spcPct val="130000"/>
              </a:lnSpc>
              <a:spcAft>
                <a:spcPts val="0"/>
              </a:spcAft>
            </a:pPr>
            <a:r>
              <a:rPr sz="1350" b="1" i="0">
                <a:solidFill>
                  <a:srgbClr val="FFFFFF"/>
                </a:solidFill>
                <a:latin typeface="Inter"/>
              </a:rPr>
              <a:t>PESO Model</a:t>
            </a:r>
            <a:r>
              <a:rPr sz="1350" b="0" i="0">
                <a:solidFill>
                  <a:srgbClr val="9A9AB8"/>
                </a:solidFill>
                <a:latin typeface="Inter"/>
              </a:rPr>
              <a:t> — Paid / Earned / Shared / Owned. Útil pra mostrar ao cliente onde a campanha de influenciador entra no mix de mídia que ele já compra.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05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CAPÍTULOS 3+4 · FRAMEWORK + CONTRATO · ~1,5 MIN</a:t>
            </a:r>
          </a:p>
        </p:txBody>
      </p:sp>
      <p:sp>
        <p:nvSpPr>
          <p:cNvPr id="6" name="TextBox 5"/>
          <p:cNvSpPr txBox="1"/>
          <p:nvPr/>
        </p:nvSpPr>
        <p:spPr>
          <a:xfrm>
            <a:off x="609600" y="647700"/>
            <a:ext cx="10972800" cy="476250"/>
          </a:xfrm>
          <a:prstGeom prst="rect">
            <a:avLst/>
          </a:prstGeom>
          <a:noFill/>
        </p:spPr>
        <p:txBody>
          <a:bodyPr wrap="square" lIns="0" rIns="0" tIns="0" bIns="0">
            <a:noAutofit/>
          </a:bodyPr>
          <a:lstStyle/>
          <a:p>
            <a:pPr algn="l">
              <a:lnSpc>
                <a:spcPct val="110000"/>
              </a:lnSpc>
            </a:pPr>
            <a:r>
              <a:rPr sz="2500" b="1" i="0">
                <a:solidFill>
                  <a:srgbClr val="FFFFFF"/>
                </a:solidFill>
                <a:latin typeface="Montserrat"/>
              </a:rPr>
              <a:t>Toda campanha passa pelo SMART antes do ar</a:t>
            </a:r>
          </a:p>
        </p:txBody>
      </p:sp>
      <p:sp>
        <p:nvSpPr>
          <p:cNvPr id="7" name="Rectangle 6"/>
          <p:cNvSpPr/>
          <p:nvPr/>
        </p:nvSpPr>
        <p:spPr>
          <a:xfrm>
            <a:off x="609600" y="1047750"/>
            <a:ext cx="419100" cy="285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9600" y="1333500"/>
            <a:ext cx="207264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050" y="1485900"/>
            <a:ext cx="1729740" cy="381000"/>
          </a:xfrm>
          <a:prstGeom prst="rect">
            <a:avLst/>
          </a:prstGeom>
          <a:noFill/>
        </p:spPr>
        <p:txBody>
          <a:bodyPr wrap="square" lIns="0" rIns="0" tIns="0" bIns="0">
            <a:noAutofit/>
          </a:bodyPr>
          <a:lstStyle/>
          <a:p>
            <a:pPr algn="l"/>
            <a:r>
              <a:rPr sz="2500" b="1" i="0">
                <a:solidFill>
                  <a:srgbClr val="A3E3F0"/>
                </a:solidFill>
                <a:latin typeface="Montserrat"/>
              </a:rPr>
              <a:t>S</a:t>
            </a:r>
          </a:p>
        </p:txBody>
      </p:sp>
      <p:sp>
        <p:nvSpPr>
          <p:cNvPr id="10" name="TextBox 9"/>
          <p:cNvSpPr txBox="1"/>
          <p:nvPr/>
        </p:nvSpPr>
        <p:spPr>
          <a:xfrm>
            <a:off x="781050" y="1885950"/>
            <a:ext cx="1729740" cy="57150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Specific — o que resolve</a:t>
            </a:r>
          </a:p>
        </p:txBody>
      </p:sp>
      <p:sp>
        <p:nvSpPr>
          <p:cNvPr id="11" name="Rounded Rectangle 10"/>
          <p:cNvSpPr/>
          <p:nvPr/>
        </p:nvSpPr>
        <p:spPr>
          <a:xfrm>
            <a:off x="2834640" y="1333500"/>
            <a:ext cx="207264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6090" y="1485900"/>
            <a:ext cx="1729740" cy="381000"/>
          </a:xfrm>
          <a:prstGeom prst="rect">
            <a:avLst/>
          </a:prstGeom>
          <a:noFill/>
        </p:spPr>
        <p:txBody>
          <a:bodyPr wrap="square" lIns="0" rIns="0" tIns="0" bIns="0">
            <a:noAutofit/>
          </a:bodyPr>
          <a:lstStyle/>
          <a:p>
            <a:pPr algn="l"/>
            <a:r>
              <a:rPr sz="2500" b="1" i="0">
                <a:solidFill>
                  <a:srgbClr val="A3E3F0"/>
                </a:solidFill>
                <a:latin typeface="Montserrat"/>
              </a:rPr>
              <a:t>M</a:t>
            </a:r>
          </a:p>
        </p:txBody>
      </p:sp>
      <p:sp>
        <p:nvSpPr>
          <p:cNvPr id="13" name="TextBox 12"/>
          <p:cNvSpPr txBox="1"/>
          <p:nvPr/>
        </p:nvSpPr>
        <p:spPr>
          <a:xfrm>
            <a:off x="3006090" y="1885950"/>
            <a:ext cx="1729740" cy="57150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Measurable — métrica de sucesso</a:t>
            </a:r>
          </a:p>
        </p:txBody>
      </p:sp>
      <p:sp>
        <p:nvSpPr>
          <p:cNvPr id="14" name="Rounded Rectangle 13"/>
          <p:cNvSpPr/>
          <p:nvPr/>
        </p:nvSpPr>
        <p:spPr>
          <a:xfrm>
            <a:off x="5059680" y="1333500"/>
            <a:ext cx="207264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31130" y="1485900"/>
            <a:ext cx="1729740" cy="381000"/>
          </a:xfrm>
          <a:prstGeom prst="rect">
            <a:avLst/>
          </a:prstGeom>
          <a:noFill/>
        </p:spPr>
        <p:txBody>
          <a:bodyPr wrap="square" lIns="0" rIns="0" tIns="0" bIns="0">
            <a:noAutofit/>
          </a:bodyPr>
          <a:lstStyle/>
          <a:p>
            <a:pPr algn="l"/>
            <a:r>
              <a:rPr sz="2500" b="1" i="0">
                <a:solidFill>
                  <a:srgbClr val="A3E3F0"/>
                </a:solidFill>
                <a:latin typeface="Montserrat"/>
              </a:rPr>
              <a:t>A</a:t>
            </a:r>
          </a:p>
        </p:txBody>
      </p:sp>
      <p:sp>
        <p:nvSpPr>
          <p:cNvPr id="16" name="TextBox 15"/>
          <p:cNvSpPr txBox="1"/>
          <p:nvPr/>
        </p:nvSpPr>
        <p:spPr>
          <a:xfrm>
            <a:off x="5231130" y="1885950"/>
            <a:ext cx="1729740" cy="57150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Attainable — meta realista</a:t>
            </a:r>
          </a:p>
        </p:txBody>
      </p:sp>
      <p:sp>
        <p:nvSpPr>
          <p:cNvPr id="17" name="Rounded Rectangle 16"/>
          <p:cNvSpPr/>
          <p:nvPr/>
        </p:nvSpPr>
        <p:spPr>
          <a:xfrm>
            <a:off x="7284720" y="1333500"/>
            <a:ext cx="207264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56170" y="1485900"/>
            <a:ext cx="1729740" cy="381000"/>
          </a:xfrm>
          <a:prstGeom prst="rect">
            <a:avLst/>
          </a:prstGeom>
          <a:noFill/>
        </p:spPr>
        <p:txBody>
          <a:bodyPr wrap="square" lIns="0" rIns="0" tIns="0" bIns="0">
            <a:noAutofit/>
          </a:bodyPr>
          <a:lstStyle/>
          <a:p>
            <a:pPr algn="l"/>
            <a:r>
              <a:rPr sz="2500" b="1" i="0">
                <a:solidFill>
                  <a:srgbClr val="A3E3F0"/>
                </a:solidFill>
                <a:latin typeface="Montserrat"/>
              </a:rPr>
              <a:t>R</a:t>
            </a:r>
          </a:p>
        </p:txBody>
      </p:sp>
      <p:sp>
        <p:nvSpPr>
          <p:cNvPr id="19" name="TextBox 18"/>
          <p:cNvSpPr txBox="1"/>
          <p:nvPr/>
        </p:nvSpPr>
        <p:spPr>
          <a:xfrm>
            <a:off x="7456170" y="1885950"/>
            <a:ext cx="1729740" cy="57150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Relevant — objetivo comercial</a:t>
            </a:r>
          </a:p>
        </p:txBody>
      </p:sp>
      <p:sp>
        <p:nvSpPr>
          <p:cNvPr id="20" name="Rounded Rectangle 19"/>
          <p:cNvSpPr/>
          <p:nvPr/>
        </p:nvSpPr>
        <p:spPr>
          <a:xfrm>
            <a:off x="9509760" y="1333500"/>
            <a:ext cx="207264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81210" y="1485900"/>
            <a:ext cx="1729740" cy="381000"/>
          </a:xfrm>
          <a:prstGeom prst="rect">
            <a:avLst/>
          </a:prstGeom>
          <a:noFill/>
        </p:spPr>
        <p:txBody>
          <a:bodyPr wrap="square" lIns="0" rIns="0" tIns="0" bIns="0">
            <a:noAutofit/>
          </a:bodyPr>
          <a:lstStyle/>
          <a:p>
            <a:pPr algn="l"/>
            <a:r>
              <a:rPr sz="2500" b="1" i="0">
                <a:solidFill>
                  <a:srgbClr val="A3E3F0"/>
                </a:solidFill>
                <a:latin typeface="Montserrat"/>
              </a:rPr>
              <a:t>T</a:t>
            </a:r>
          </a:p>
        </p:txBody>
      </p:sp>
      <p:sp>
        <p:nvSpPr>
          <p:cNvPr id="22" name="TextBox 21"/>
          <p:cNvSpPr txBox="1"/>
          <p:nvPr/>
        </p:nvSpPr>
        <p:spPr>
          <a:xfrm>
            <a:off x="9681210" y="1885950"/>
            <a:ext cx="1729740" cy="57150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Time-bound — prazo definido</a:t>
            </a:r>
          </a:p>
        </p:txBody>
      </p:sp>
      <p:sp>
        <p:nvSpPr>
          <p:cNvPr id="23" name="Rounded Rectangle 22"/>
          <p:cNvSpPr/>
          <p:nvPr/>
        </p:nvSpPr>
        <p:spPr>
          <a:xfrm>
            <a:off x="609600" y="2857500"/>
            <a:ext cx="5372100" cy="2857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1050" y="3028950"/>
            <a:ext cx="5715" cy="2514600"/>
          </a:xfrm>
          <a:prstGeom prst="rect">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2500" y="3028950"/>
            <a:ext cx="4857750" cy="2514600"/>
          </a:xfrm>
          <a:prstGeom prst="rect">
            <a:avLst/>
          </a:prstGeom>
          <a:noFill/>
        </p:spPr>
        <p:txBody>
          <a:bodyPr wrap="square" lIns="0" rIns="0">
            <a:noAutofit/>
          </a:bodyPr>
          <a:lstStyle/>
          <a:p>
            <a:pPr>
              <a:lnSpc>
                <a:spcPct val="135000"/>
              </a:lnSpc>
              <a:spcAft>
                <a:spcPts val="1000"/>
              </a:spcAft>
            </a:pPr>
            <a:r>
              <a:rPr i="1" sz="1600">
                <a:solidFill>
                  <a:srgbClr val="FFFFFF"/>
                </a:solidFill>
                <a:latin typeface="Inter"/>
              </a:rPr>
              <a:t>“Posso praticamente garantir que não funcionou porque não usaram os influenciadores certos e abordaram do ângulo errado.”</a:t>
            </a:r>
          </a:p>
          <a:p>
            <a:r>
              <a:rPr b="1" sz="1100">
                <a:solidFill>
                  <a:srgbClr val="A3E3F0"/>
                </a:solidFill>
                <a:latin typeface="Inter"/>
              </a:rPr>
              <a:t>SEDGE BESWICK</a:t>
            </a:r>
          </a:p>
        </p:txBody>
      </p:sp>
      <p:sp>
        <p:nvSpPr>
          <p:cNvPr id="26" name="Rounded Rectangle 25"/>
          <p:cNvSpPr/>
          <p:nvPr/>
        </p:nvSpPr>
        <p:spPr>
          <a:xfrm>
            <a:off x="6210300" y="2857500"/>
            <a:ext cx="5372100" cy="2857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81750" y="3009900"/>
            <a:ext cx="285750" cy="285750"/>
          </a:xfrm>
          <a:prstGeom prst="roundRect">
            <a:avLst>
              <a:gd name="adj" fmla="val 50000"/>
            </a:avLst>
          </a:prstGeom>
          <a:noFill/>
          <a:ln w="20320">
            <a:solidFill>
              <a:srgbClr val="A3E3F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A3E3F0"/>
                </a:solidFill>
                <a:latin typeface="Montserrat"/>
              </a:rPr>
              <a:t>!</a:t>
            </a:r>
          </a:p>
        </p:txBody>
      </p:sp>
      <p:sp>
        <p:nvSpPr>
          <p:cNvPr id="28" name="TextBox 27"/>
          <p:cNvSpPr txBox="1"/>
          <p:nvPr/>
        </p:nvSpPr>
        <p:spPr>
          <a:xfrm>
            <a:off x="6781800" y="3086100"/>
            <a:ext cx="4629150" cy="190500"/>
          </a:xfrm>
          <a:prstGeom prst="rect">
            <a:avLst/>
          </a:prstGeom>
          <a:noFill/>
        </p:spPr>
        <p:txBody>
          <a:bodyPr wrap="square" lIns="0" rIns="0" tIns="0" bIns="0">
            <a:noAutofit/>
          </a:bodyPr>
          <a:lstStyle/>
          <a:p>
            <a:pPr algn="l"/>
            <a:r>
              <a:rPr sz="1050" b="1" i="0" spc="60">
                <a:solidFill>
                  <a:srgbClr val="A3E3F0"/>
                </a:solidFill>
                <a:latin typeface="Inter"/>
              </a:rPr>
              <a:t>NOTA · CAPÍTULO 4 — O CONTRATO</a:t>
            </a:r>
          </a:p>
        </p:txBody>
      </p:sp>
      <p:sp>
        <p:nvSpPr>
          <p:cNvPr id="29" name="TextBox 28"/>
          <p:cNvSpPr txBox="1"/>
          <p:nvPr/>
        </p:nvSpPr>
        <p:spPr>
          <a:xfrm>
            <a:off x="6381750" y="3429000"/>
            <a:ext cx="5029200" cy="215265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Proteção de reputação, não burocracia: </a:t>
            </a:r>
            <a:r>
              <a:rPr sz="1300" b="0" i="0">
                <a:solidFill>
                  <a:srgbClr val="9A9AB8"/>
                </a:solidFill>
                <a:latin typeface="Inter"/>
              </a:rPr>
              <a:t>pagamento e prazo por escrito, direitos de uso da imagem, disclosure obrigatório (#ad — não #sp), aprovação de conteúdo antes de publicar, cláusula de exclusividade.</a:t>
            </a:r>
          </a:p>
          <a:p>
            <a:pPr algn="l">
              <a:lnSpc>
                <a:spcPct val="130000"/>
              </a:lnSpc>
              <a:spcAft>
                <a:spcPts val="800"/>
              </a:spcAft>
            </a:pPr>
            <a:r>
              <a:rPr sz="1250" b="0" i="0">
                <a:solidFill>
                  <a:srgbClr val="666688"/>
                </a:solidFill>
                <a:latin typeface="Inter"/>
              </a:rPr>
              <a:t>Caso de referência: Scott Disick/Bootea postou o script inteiro que a marca mandou — vexame público que virou meme.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06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 5 · PERFIL DO INFLUENCIADOR · ~1,5 MIN</a:t>
            </a:r>
          </a:p>
        </p:txBody>
      </p:sp>
      <p:graphicFrame>
        <p:nvGraphicFramePr>
          <p:cNvPr id="6" name="Table 5"/>
          <p:cNvGraphicFramePr>
            <a:graphicFrameLocks noGrp="1"/>
          </p:cNvGraphicFramePr>
          <p:nvPr/>
        </p:nvGraphicFramePr>
        <p:xfrm>
          <a:off x="609600" y="857250"/>
          <a:ext cx="10972800" cy="1905000"/>
        </p:xfrm>
        <a:graphic>
          <a:graphicData uri="http://schemas.openxmlformats.org/drawingml/2006/table">
            <a:tbl>
              <a:tblPr firstRow="0" bandRow="0">
                <a:tableStyleId>{5C22544A-7EE6-4342-B048-85BDC9FD1C3A}</a:tableStyleId>
              </a:tblPr>
              <a:tblGrid>
                <a:gridCol w="5486400"/>
                <a:gridCol w="5486400"/>
              </a:tblGrid>
              <a:tr h="304800">
                <a:tc>
                  <a:txBody>
                    <a:bodyPr lIns="95250" tIns="19050" bIns="19050"/>
                    <a:lstStyle/>
                    <a:p>
                      <a:r>
                        <a:rPr sz="1050" b="1">
                          <a:solidFill>
                            <a:srgbClr val="00002C"/>
                          </a:solidFill>
                          <a:latin typeface="Inter"/>
                        </a:rPr>
                        <a:t>DADO DO LIVRO (2021)</a:t>
                      </a:r>
                    </a:p>
                  </a:txBody>
                  <a:tcPr anchor="ctr">
                    <a:solidFill>
                      <a:srgbClr val="CCF9FF"/>
                    </a:solidFill>
                  </a:tcPr>
                </a:tc>
                <a:tc>
                  <a:txBody>
                    <a:bodyPr lIns="95250" tIns="19050" bIns="19050"/>
                    <a:lstStyle/>
                    <a:p>
                      <a:r>
                        <a:rPr sz="1050" b="1">
                          <a:solidFill>
                            <a:srgbClr val="00002C"/>
                          </a:solidFill>
                          <a:latin typeface="Inter"/>
                        </a:rPr>
                        <a:t>REALIDADE ATUAL (BRASIL)</a:t>
                      </a:r>
                    </a:p>
                  </a:txBody>
                  <a:tcPr anchor="ctr">
                    <a:solidFill>
                      <a:srgbClr val="CCF9FF"/>
                    </a:solidFill>
                  </a:tcPr>
                </a:tc>
              </a:tr>
              <a:tr h="533400">
                <a:tc>
                  <a:txBody>
                    <a:bodyPr wrap="square" lIns="95250" rIns="57150" tIns="38100" bIns="38100"/>
                    <a:lstStyle/>
                    <a:p>
                      <a:pPr>
                        <a:lnSpc>
                          <a:spcPct val="115000"/>
                        </a:lnSpc>
                      </a:pPr>
                      <a:r>
                        <a:rPr sz="1250">
                          <a:solidFill>
                            <a:srgbClr val="E4E4F0"/>
                          </a:solidFill>
                          <a:latin typeface="Inter"/>
                        </a:rPr>
                        <a:t>Idade média 28 anos, 77% mulheres</a:t>
                      </a:r>
                    </a:p>
                  </a:txBody>
                  <a:tcPr anchor="ctr">
                    <a:solidFill>
                      <a:srgbClr val="0A0A3D"/>
                    </a:solidFill>
                  </a:tcPr>
                </a:tc>
                <a:tc>
                  <a:txBody>
                    <a:bodyPr wrap="square" lIns="95250" rIns="57150" tIns="38100" bIns="38100"/>
                    <a:lstStyle/>
                    <a:p>
                      <a:pPr>
                        <a:lnSpc>
                          <a:spcPct val="115000"/>
                        </a:lnSpc>
                      </a:pPr>
                      <a:r>
                        <a:rPr sz="1250">
                          <a:solidFill>
                            <a:srgbClr val="E4E4F0"/>
                          </a:solidFill>
                          <a:latin typeface="Inter"/>
                        </a:rPr>
                        <a:t>91% dos jovens de 16–29 anos acompanham influenciador</a:t>
                      </a:r>
                    </a:p>
                  </a:txBody>
                  <a:tcPr anchor="ctr">
                    <a:solidFill>
                      <a:srgbClr val="0A0A3D"/>
                    </a:solidFill>
                  </a:tcPr>
                </a:tc>
              </a:tr>
              <a:tr h="533400">
                <a:tc>
                  <a:txBody>
                    <a:bodyPr wrap="square" lIns="95250" rIns="57150" tIns="38100" bIns="38100"/>
                    <a:lstStyle/>
                    <a:p>
                      <a:pPr>
                        <a:lnSpc>
                          <a:spcPct val="115000"/>
                        </a:lnSpc>
                      </a:pPr>
                      <a:r>
                        <a:rPr sz="1250">
                          <a:solidFill>
                            <a:srgbClr val="E4E4F0"/>
                          </a:solidFill>
                          <a:latin typeface="Inter"/>
                        </a:rPr>
                        <a:t>Só 18% vivem 100% de conteúdo</a:t>
                      </a:r>
                    </a:p>
                  </a:txBody>
                  <a:tcPr anchor="ctr">
                    <a:solidFill>
                      <a:srgbClr val="071235"/>
                    </a:solidFill>
                  </a:tcPr>
                </a:tc>
                <a:tc>
                  <a:txBody>
                    <a:bodyPr wrap="square" lIns="95250" rIns="57150" tIns="38100" bIns="38100"/>
                    <a:lstStyle/>
                    <a:p>
                      <a:pPr>
                        <a:lnSpc>
                          <a:spcPct val="115000"/>
                        </a:lnSpc>
                      </a:pPr>
                      <a:r>
                        <a:rPr sz="1250">
                          <a:solidFill>
                            <a:srgbClr val="E4E4F0"/>
                          </a:solidFill>
                          <a:latin typeface="Inter"/>
                        </a:rPr>
                        <a:t>mercado “mais profissional e orientado a performance”</a:t>
                      </a:r>
                    </a:p>
                  </a:txBody>
                  <a:tcPr anchor="ctr">
                    <a:solidFill>
                      <a:srgbClr val="071235"/>
                    </a:solidFill>
                  </a:tcPr>
                </a:tc>
              </a:tr>
              <a:tr h="533400">
                <a:tc>
                  <a:txBody>
                    <a:bodyPr wrap="square" lIns="95250" rIns="57150" tIns="38100" bIns="38100"/>
                    <a:lstStyle/>
                    <a:p>
                      <a:pPr>
                        <a:lnSpc>
                          <a:spcPct val="115000"/>
                        </a:lnSpc>
                      </a:pPr>
                      <a:r>
                        <a:rPr sz="1250">
                          <a:solidFill>
                            <a:srgbClr val="E4E4F0"/>
                          </a:solidFill>
                          <a:latin typeface="Inter"/>
                        </a:rPr>
                        <a:t>56% ainda veem $ como motivador nº1</a:t>
                      </a:r>
                    </a:p>
                  </a:txBody>
                  <a:tcPr anchor="ctr">
                    <a:solidFill>
                      <a:srgbClr val="0A0A3D"/>
                    </a:solidFill>
                  </a:tcPr>
                </a:tc>
                <a:tc>
                  <a:txBody>
                    <a:bodyPr wrap="square" lIns="95250" rIns="57150" tIns="38100" bIns="38100"/>
                    <a:lstStyle/>
                    <a:p>
                      <a:pPr>
                        <a:lnSpc>
                          <a:spcPct val="115000"/>
                        </a:lnSpc>
                      </a:pPr>
                      <a:r>
                        <a:rPr sz="1250">
                          <a:solidFill>
                            <a:srgbClr val="E4E4F0"/>
                          </a:solidFill>
                          <a:latin typeface="Inter"/>
                        </a:rPr>
                        <a:t>68% acham que já tem influenciador demais — curadoria importa mais</a:t>
                      </a:r>
                    </a:p>
                  </a:txBody>
                  <a:tcPr anchor="ctr">
                    <a:solidFill>
                      <a:srgbClr val="0A0A3D"/>
                    </a:solidFill>
                  </a:tcPr>
                </a:tc>
              </a:tr>
            </a:tbl>
          </a:graphicData>
        </a:graphic>
      </p:graphicFrame>
      <p:sp>
        <p:nvSpPr>
          <p:cNvPr id="7" name="TextBox 6"/>
          <p:cNvSpPr txBox="1"/>
          <p:nvPr/>
        </p:nvSpPr>
        <p:spPr>
          <a:xfrm>
            <a:off x="609600" y="3333750"/>
            <a:ext cx="285750" cy="209550"/>
          </a:xfrm>
          <a:prstGeom prst="rect">
            <a:avLst/>
          </a:prstGeom>
          <a:noFill/>
        </p:spPr>
        <p:txBody>
          <a:bodyPr wrap="square" lIns="0" rIns="0" tIns="0" bIns="0">
            <a:noAutofit/>
          </a:bodyPr>
          <a:lstStyle/>
          <a:p>
            <a:pPr algn="l"/>
            <a:r>
              <a:rPr sz="1300" b="1" i="0">
                <a:solidFill>
                  <a:srgbClr val="A3E3F0"/>
                </a:solidFill>
                <a:latin typeface="Montserrat"/>
              </a:rPr>
              <a:t>1</a:t>
            </a:r>
          </a:p>
        </p:txBody>
      </p:sp>
      <p:sp>
        <p:nvSpPr>
          <p:cNvPr id="8" name="TextBox 7"/>
          <p:cNvSpPr txBox="1"/>
          <p:nvPr/>
        </p:nvSpPr>
        <p:spPr>
          <a:xfrm>
            <a:off x="914400" y="3314700"/>
            <a:ext cx="2295525" cy="228600"/>
          </a:xfrm>
          <a:prstGeom prst="rect">
            <a:avLst/>
          </a:prstGeom>
          <a:noFill/>
        </p:spPr>
        <p:txBody>
          <a:bodyPr wrap="square" lIns="0" rIns="0" tIns="0" bIns="0">
            <a:noAutofit/>
          </a:bodyPr>
          <a:lstStyle/>
          <a:p>
            <a:pPr algn="l"/>
            <a:r>
              <a:rPr sz="1400" b="1" i="0">
                <a:solidFill>
                  <a:srgbClr val="FFFFFF"/>
                </a:solidFill>
                <a:latin typeface="Montserrat"/>
              </a:rPr>
              <a:t>Pesquisar antes</a:t>
            </a:r>
          </a:p>
        </p:txBody>
      </p:sp>
      <p:sp>
        <p:nvSpPr>
          <p:cNvPr id="9" name="TextBox 8"/>
          <p:cNvSpPr txBox="1"/>
          <p:nvPr/>
        </p:nvSpPr>
        <p:spPr>
          <a:xfrm>
            <a:off x="914400" y="3562350"/>
            <a:ext cx="2295525" cy="120015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Media kit, histórico com concorrente.</a:t>
            </a:r>
          </a:p>
        </p:txBody>
      </p:sp>
      <p:sp>
        <p:nvSpPr>
          <p:cNvPr id="10" name="TextBox 9"/>
          <p:cNvSpPr txBox="1"/>
          <p:nvPr/>
        </p:nvSpPr>
        <p:spPr>
          <a:xfrm>
            <a:off x="3400425" y="3333750"/>
            <a:ext cx="285750" cy="209550"/>
          </a:xfrm>
          <a:prstGeom prst="rect">
            <a:avLst/>
          </a:prstGeom>
          <a:noFill/>
        </p:spPr>
        <p:txBody>
          <a:bodyPr wrap="square" lIns="0" rIns="0" tIns="0" bIns="0">
            <a:noAutofit/>
          </a:bodyPr>
          <a:lstStyle/>
          <a:p>
            <a:pPr algn="l"/>
            <a:r>
              <a:rPr sz="1300" b="1" i="0">
                <a:solidFill>
                  <a:srgbClr val="A3E3F0"/>
                </a:solidFill>
                <a:latin typeface="Montserrat"/>
              </a:rPr>
              <a:t>2</a:t>
            </a:r>
          </a:p>
        </p:txBody>
      </p:sp>
      <p:sp>
        <p:nvSpPr>
          <p:cNvPr id="11" name="TextBox 10"/>
          <p:cNvSpPr txBox="1"/>
          <p:nvPr/>
        </p:nvSpPr>
        <p:spPr>
          <a:xfrm>
            <a:off x="3705225" y="3314700"/>
            <a:ext cx="2295525" cy="228600"/>
          </a:xfrm>
          <a:prstGeom prst="rect">
            <a:avLst/>
          </a:prstGeom>
          <a:noFill/>
        </p:spPr>
        <p:txBody>
          <a:bodyPr wrap="square" lIns="0" rIns="0" tIns="0" bIns="0">
            <a:noAutofit/>
          </a:bodyPr>
          <a:lstStyle/>
          <a:p>
            <a:pPr algn="l"/>
            <a:r>
              <a:rPr sz="1400" b="1" i="0">
                <a:solidFill>
                  <a:srgbClr val="FFFFFF"/>
                </a:solidFill>
                <a:latin typeface="Montserrat"/>
              </a:rPr>
              <a:t>Definir compensação</a:t>
            </a:r>
          </a:p>
        </p:txBody>
      </p:sp>
      <p:sp>
        <p:nvSpPr>
          <p:cNvPr id="12" name="TextBox 11"/>
          <p:cNvSpPr txBox="1"/>
          <p:nvPr/>
        </p:nvSpPr>
        <p:spPr>
          <a:xfrm>
            <a:off x="3705225" y="3562350"/>
            <a:ext cx="2295525" cy="120015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Cachê, comissão ou permuta com limite.</a:t>
            </a:r>
          </a:p>
        </p:txBody>
      </p:sp>
      <p:sp>
        <p:nvSpPr>
          <p:cNvPr id="13" name="TextBox 12"/>
          <p:cNvSpPr txBox="1"/>
          <p:nvPr/>
        </p:nvSpPr>
        <p:spPr>
          <a:xfrm>
            <a:off x="6191250" y="3333750"/>
            <a:ext cx="285750" cy="209550"/>
          </a:xfrm>
          <a:prstGeom prst="rect">
            <a:avLst/>
          </a:prstGeom>
          <a:noFill/>
        </p:spPr>
        <p:txBody>
          <a:bodyPr wrap="square" lIns="0" rIns="0" tIns="0" bIns="0">
            <a:noAutofit/>
          </a:bodyPr>
          <a:lstStyle/>
          <a:p>
            <a:pPr algn="l"/>
            <a:r>
              <a:rPr sz="1300" b="1" i="0">
                <a:solidFill>
                  <a:srgbClr val="A3E3F0"/>
                </a:solidFill>
                <a:latin typeface="Montserrat"/>
              </a:rPr>
              <a:t>3</a:t>
            </a:r>
          </a:p>
        </p:txBody>
      </p:sp>
      <p:sp>
        <p:nvSpPr>
          <p:cNvPr id="14" name="TextBox 13"/>
          <p:cNvSpPr txBox="1"/>
          <p:nvPr/>
        </p:nvSpPr>
        <p:spPr>
          <a:xfrm>
            <a:off x="6496050" y="3314700"/>
            <a:ext cx="2295525" cy="228600"/>
          </a:xfrm>
          <a:prstGeom prst="rect">
            <a:avLst/>
          </a:prstGeom>
          <a:noFill/>
        </p:spPr>
        <p:txBody>
          <a:bodyPr wrap="square" lIns="0" rIns="0" tIns="0" bIns="0">
            <a:noAutofit/>
          </a:bodyPr>
          <a:lstStyle/>
          <a:p>
            <a:pPr algn="l"/>
            <a:r>
              <a:rPr sz="1400" b="1" i="0">
                <a:solidFill>
                  <a:srgbClr val="FFFFFF"/>
                </a:solidFill>
                <a:latin typeface="Montserrat"/>
              </a:rPr>
              <a:t>Oferecer diferencial</a:t>
            </a:r>
          </a:p>
        </p:txBody>
      </p:sp>
      <p:sp>
        <p:nvSpPr>
          <p:cNvPr id="15" name="TextBox 14"/>
          <p:cNvSpPr txBox="1"/>
          <p:nvPr/>
        </p:nvSpPr>
        <p:spPr>
          <a:xfrm>
            <a:off x="6496050" y="3562350"/>
            <a:ext cx="2295525" cy="120015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Evento exclusivo quando o budget é curto.</a:t>
            </a:r>
          </a:p>
        </p:txBody>
      </p:sp>
      <p:sp>
        <p:nvSpPr>
          <p:cNvPr id="16" name="TextBox 15"/>
          <p:cNvSpPr txBox="1"/>
          <p:nvPr/>
        </p:nvSpPr>
        <p:spPr>
          <a:xfrm>
            <a:off x="8982075" y="3333750"/>
            <a:ext cx="285750" cy="209550"/>
          </a:xfrm>
          <a:prstGeom prst="rect">
            <a:avLst/>
          </a:prstGeom>
          <a:noFill/>
        </p:spPr>
        <p:txBody>
          <a:bodyPr wrap="square" lIns="0" rIns="0" tIns="0" bIns="0">
            <a:noAutofit/>
          </a:bodyPr>
          <a:lstStyle/>
          <a:p>
            <a:pPr algn="l"/>
            <a:r>
              <a:rPr sz="1300" b="1" i="0">
                <a:solidFill>
                  <a:srgbClr val="A3E3F0"/>
                </a:solidFill>
                <a:latin typeface="Montserrat"/>
              </a:rPr>
              <a:t>4</a:t>
            </a:r>
          </a:p>
        </p:txBody>
      </p:sp>
      <p:sp>
        <p:nvSpPr>
          <p:cNvPr id="17" name="TextBox 16"/>
          <p:cNvSpPr txBox="1"/>
          <p:nvPr/>
        </p:nvSpPr>
        <p:spPr>
          <a:xfrm>
            <a:off x="9286875" y="3314700"/>
            <a:ext cx="2295525" cy="228600"/>
          </a:xfrm>
          <a:prstGeom prst="rect">
            <a:avLst/>
          </a:prstGeom>
          <a:noFill/>
        </p:spPr>
        <p:txBody>
          <a:bodyPr wrap="square" lIns="0" rIns="0" tIns="0" bIns="0">
            <a:noAutofit/>
          </a:bodyPr>
          <a:lstStyle/>
          <a:p>
            <a:pPr algn="l"/>
            <a:r>
              <a:rPr sz="1400" b="1" i="0">
                <a:solidFill>
                  <a:srgbClr val="FFFFFF"/>
                </a:solidFill>
                <a:latin typeface="Montserrat"/>
              </a:rPr>
              <a:t>Alinhar por escrito</a:t>
            </a:r>
          </a:p>
        </p:txBody>
      </p:sp>
      <p:sp>
        <p:nvSpPr>
          <p:cNvPr id="18" name="TextBox 17"/>
          <p:cNvSpPr txBox="1"/>
          <p:nvPr/>
        </p:nvSpPr>
        <p:spPr>
          <a:xfrm>
            <a:off x="9286875" y="3562350"/>
            <a:ext cx="2295525" cy="120015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Deliverables antes de fechar.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07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CAPÍTULOS 6+7 · MANUAL PRÁTICO · ~2,5 MIN</a:t>
            </a:r>
          </a:p>
        </p:txBody>
      </p:sp>
      <p:sp>
        <p:nvSpPr>
          <p:cNvPr id="6" name="TextBox 5"/>
          <p:cNvSpPr txBox="1"/>
          <p:nvPr/>
        </p:nvSpPr>
        <p:spPr>
          <a:xfrm>
            <a:off x="609600" y="647700"/>
            <a:ext cx="10972800" cy="476250"/>
          </a:xfrm>
          <a:prstGeom prst="rect">
            <a:avLst/>
          </a:prstGeom>
          <a:noFill/>
        </p:spPr>
        <p:txBody>
          <a:bodyPr wrap="square" lIns="0" rIns="0" tIns="0" bIns="0">
            <a:noAutofit/>
          </a:bodyPr>
          <a:lstStyle/>
          <a:p>
            <a:pPr algn="l">
              <a:lnSpc>
                <a:spcPct val="110000"/>
              </a:lnSpc>
            </a:pPr>
            <a:r>
              <a:rPr sz="2400" b="1" i="0">
                <a:solidFill>
                  <a:srgbClr val="FFFFFF"/>
                </a:solidFill>
                <a:latin typeface="Montserrat"/>
              </a:rPr>
              <a:t>Como encontrar (e reter) o influenciador ideal</a:t>
            </a:r>
          </a:p>
        </p:txBody>
      </p:sp>
      <p:sp>
        <p:nvSpPr>
          <p:cNvPr id="7" name="Rectangle 6"/>
          <p:cNvSpPr/>
          <p:nvPr/>
        </p:nvSpPr>
        <p:spPr>
          <a:xfrm>
            <a:off x="609600" y="1047750"/>
            <a:ext cx="419100" cy="285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9600" y="1238250"/>
            <a:ext cx="285750" cy="209550"/>
          </a:xfrm>
          <a:prstGeom prst="rect">
            <a:avLst/>
          </a:prstGeom>
          <a:noFill/>
        </p:spPr>
        <p:txBody>
          <a:bodyPr wrap="square" lIns="0" rIns="0" tIns="0" bIns="0">
            <a:noAutofit/>
          </a:bodyPr>
          <a:lstStyle/>
          <a:p>
            <a:pPr algn="l"/>
            <a:r>
              <a:rPr sz="1300" b="1" i="0">
                <a:solidFill>
                  <a:srgbClr val="A3E3F0"/>
                </a:solidFill>
                <a:latin typeface="Montserrat"/>
              </a:rPr>
              <a:t>01</a:t>
            </a:r>
          </a:p>
        </p:txBody>
      </p:sp>
      <p:sp>
        <p:nvSpPr>
          <p:cNvPr id="9" name="TextBox 8"/>
          <p:cNvSpPr txBox="1"/>
          <p:nvPr/>
        </p:nvSpPr>
        <p:spPr>
          <a:xfrm>
            <a:off x="914400" y="1219200"/>
            <a:ext cx="5067300" cy="228600"/>
          </a:xfrm>
          <a:prstGeom prst="rect">
            <a:avLst/>
          </a:prstGeom>
          <a:noFill/>
        </p:spPr>
        <p:txBody>
          <a:bodyPr wrap="square" lIns="0" rIns="0" tIns="0" bIns="0">
            <a:noAutofit/>
          </a:bodyPr>
          <a:lstStyle/>
          <a:p>
            <a:pPr algn="l"/>
            <a:r>
              <a:rPr sz="1400" b="1" i="0">
                <a:solidFill>
                  <a:srgbClr val="FFFFFF"/>
                </a:solidFill>
                <a:latin typeface="Montserrat"/>
              </a:rPr>
              <a:t>Não procure sem meta</a:t>
            </a:r>
          </a:p>
        </p:txBody>
      </p:sp>
      <p:sp>
        <p:nvSpPr>
          <p:cNvPr id="10" name="TextBox 9"/>
          <p:cNvSpPr txBox="1"/>
          <p:nvPr/>
        </p:nvSpPr>
        <p:spPr>
          <a:xfrm>
            <a:off x="914400" y="1466850"/>
            <a:ext cx="5067300" cy="64770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Volte pro SMART antes de abrir qualquer plataforma.</a:t>
            </a:r>
          </a:p>
        </p:txBody>
      </p:sp>
      <p:sp>
        <p:nvSpPr>
          <p:cNvPr id="11" name="TextBox 10"/>
          <p:cNvSpPr txBox="1"/>
          <p:nvPr/>
        </p:nvSpPr>
        <p:spPr>
          <a:xfrm>
            <a:off x="6210300" y="1238250"/>
            <a:ext cx="285750" cy="209550"/>
          </a:xfrm>
          <a:prstGeom prst="rect">
            <a:avLst/>
          </a:prstGeom>
          <a:noFill/>
        </p:spPr>
        <p:txBody>
          <a:bodyPr wrap="square" lIns="0" rIns="0" tIns="0" bIns="0">
            <a:noAutofit/>
          </a:bodyPr>
          <a:lstStyle/>
          <a:p>
            <a:pPr algn="l"/>
            <a:r>
              <a:rPr sz="1300" b="1" i="0">
                <a:solidFill>
                  <a:srgbClr val="A3E3F0"/>
                </a:solidFill>
                <a:latin typeface="Montserrat"/>
              </a:rPr>
              <a:t>02</a:t>
            </a:r>
          </a:p>
        </p:txBody>
      </p:sp>
      <p:sp>
        <p:nvSpPr>
          <p:cNvPr id="12" name="TextBox 11"/>
          <p:cNvSpPr txBox="1"/>
          <p:nvPr/>
        </p:nvSpPr>
        <p:spPr>
          <a:xfrm>
            <a:off x="6515100" y="1219200"/>
            <a:ext cx="5067300" cy="228600"/>
          </a:xfrm>
          <a:prstGeom prst="rect">
            <a:avLst/>
          </a:prstGeom>
          <a:noFill/>
        </p:spPr>
        <p:txBody>
          <a:bodyPr wrap="square" lIns="0" rIns="0" tIns="0" bIns="0">
            <a:noAutofit/>
          </a:bodyPr>
          <a:lstStyle/>
          <a:p>
            <a:pPr algn="l"/>
            <a:r>
              <a:rPr sz="1400" b="1" i="0">
                <a:solidFill>
                  <a:srgbClr val="FFFFFF"/>
                </a:solidFill>
                <a:latin typeface="Montserrat"/>
              </a:rPr>
              <a:t>Pesquise onde a conversa já acontece</a:t>
            </a:r>
          </a:p>
        </p:txBody>
      </p:sp>
      <p:sp>
        <p:nvSpPr>
          <p:cNvPr id="13" name="TextBox 12"/>
          <p:cNvSpPr txBox="1"/>
          <p:nvPr/>
        </p:nvSpPr>
        <p:spPr>
          <a:xfrm>
            <a:off x="6515100" y="1466850"/>
            <a:ext cx="5067300" cy="64770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Hashtag do nicho, geotag da cidade, o que o concorrente já faz.</a:t>
            </a:r>
          </a:p>
        </p:txBody>
      </p:sp>
      <p:sp>
        <p:nvSpPr>
          <p:cNvPr id="14" name="TextBox 13"/>
          <p:cNvSpPr txBox="1"/>
          <p:nvPr/>
        </p:nvSpPr>
        <p:spPr>
          <a:xfrm>
            <a:off x="609600" y="2114550"/>
            <a:ext cx="285750" cy="209550"/>
          </a:xfrm>
          <a:prstGeom prst="rect">
            <a:avLst/>
          </a:prstGeom>
          <a:noFill/>
        </p:spPr>
        <p:txBody>
          <a:bodyPr wrap="square" lIns="0" rIns="0" tIns="0" bIns="0">
            <a:noAutofit/>
          </a:bodyPr>
          <a:lstStyle/>
          <a:p>
            <a:pPr algn="l"/>
            <a:r>
              <a:rPr sz="1300" b="1" i="0">
                <a:solidFill>
                  <a:srgbClr val="A3E3F0"/>
                </a:solidFill>
                <a:latin typeface="Montserrat"/>
              </a:rPr>
              <a:t>03</a:t>
            </a:r>
          </a:p>
        </p:txBody>
      </p:sp>
      <p:sp>
        <p:nvSpPr>
          <p:cNvPr id="15" name="TextBox 14"/>
          <p:cNvSpPr txBox="1"/>
          <p:nvPr/>
        </p:nvSpPr>
        <p:spPr>
          <a:xfrm>
            <a:off x="914400" y="2095500"/>
            <a:ext cx="5067300" cy="228600"/>
          </a:xfrm>
          <a:prstGeom prst="rect">
            <a:avLst/>
          </a:prstGeom>
          <a:noFill/>
        </p:spPr>
        <p:txBody>
          <a:bodyPr wrap="square" lIns="0" rIns="0" tIns="0" bIns="0">
            <a:noAutofit/>
          </a:bodyPr>
          <a:lstStyle/>
          <a:p>
            <a:pPr algn="l"/>
            <a:r>
              <a:rPr sz="1400" b="1" i="0">
                <a:solidFill>
                  <a:srgbClr val="FFFFFF"/>
                </a:solidFill>
                <a:latin typeface="Montserrat"/>
              </a:rPr>
              <a:t>Filtre por qualidade, não seguidor</a:t>
            </a:r>
          </a:p>
        </p:txBody>
      </p:sp>
      <p:sp>
        <p:nvSpPr>
          <p:cNvPr id="16" name="TextBox 15"/>
          <p:cNvSpPr txBox="1"/>
          <p:nvPr/>
        </p:nvSpPr>
        <p:spPr>
          <a:xfrm>
            <a:off x="914400" y="2343150"/>
            <a:ext cx="5067300" cy="64770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Engagement acima de 3% é bom, acima de 10% é excelente. Seguidor alto + engajamento baixo = provável fraude.</a:t>
            </a:r>
          </a:p>
        </p:txBody>
      </p:sp>
      <p:sp>
        <p:nvSpPr>
          <p:cNvPr id="17" name="TextBox 16"/>
          <p:cNvSpPr txBox="1"/>
          <p:nvPr/>
        </p:nvSpPr>
        <p:spPr>
          <a:xfrm>
            <a:off x="6210300" y="2114550"/>
            <a:ext cx="285750" cy="209550"/>
          </a:xfrm>
          <a:prstGeom prst="rect">
            <a:avLst/>
          </a:prstGeom>
          <a:noFill/>
        </p:spPr>
        <p:txBody>
          <a:bodyPr wrap="square" lIns="0" rIns="0" tIns="0" bIns="0">
            <a:noAutofit/>
          </a:bodyPr>
          <a:lstStyle/>
          <a:p>
            <a:pPr algn="l"/>
            <a:r>
              <a:rPr sz="1300" b="1" i="0">
                <a:solidFill>
                  <a:srgbClr val="A3E3F0"/>
                </a:solidFill>
                <a:latin typeface="Montserrat"/>
              </a:rPr>
              <a:t>04</a:t>
            </a:r>
          </a:p>
        </p:txBody>
      </p:sp>
      <p:sp>
        <p:nvSpPr>
          <p:cNvPr id="18" name="TextBox 17"/>
          <p:cNvSpPr txBox="1"/>
          <p:nvPr/>
        </p:nvSpPr>
        <p:spPr>
          <a:xfrm>
            <a:off x="6515100" y="2095500"/>
            <a:ext cx="5067300" cy="228600"/>
          </a:xfrm>
          <a:prstGeom prst="rect">
            <a:avLst/>
          </a:prstGeom>
          <a:noFill/>
        </p:spPr>
        <p:txBody>
          <a:bodyPr wrap="square" lIns="0" rIns="0" tIns="0" bIns="0">
            <a:noAutofit/>
          </a:bodyPr>
          <a:lstStyle/>
          <a:p>
            <a:pPr algn="l"/>
            <a:r>
              <a:rPr sz="1400" b="1" i="0">
                <a:solidFill>
                  <a:srgbClr val="FFFFFF"/>
                </a:solidFill>
                <a:latin typeface="Montserrat"/>
              </a:rPr>
              <a:t>Construa relação antes de pedir</a:t>
            </a:r>
          </a:p>
        </p:txBody>
      </p:sp>
      <p:sp>
        <p:nvSpPr>
          <p:cNvPr id="19" name="TextBox 18"/>
          <p:cNvSpPr txBox="1"/>
          <p:nvPr/>
        </p:nvSpPr>
        <p:spPr>
          <a:xfrm>
            <a:off x="6515100" y="2343150"/>
            <a:ext cx="5067300" cy="64770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Metade dos e-mails frios nunca recebe resposta — prospecte o dobro do que precisa.</a:t>
            </a:r>
          </a:p>
        </p:txBody>
      </p:sp>
      <p:sp>
        <p:nvSpPr>
          <p:cNvPr id="20" name="TextBox 19"/>
          <p:cNvSpPr txBox="1"/>
          <p:nvPr/>
        </p:nvSpPr>
        <p:spPr>
          <a:xfrm>
            <a:off x="609600" y="2990850"/>
            <a:ext cx="285750" cy="209550"/>
          </a:xfrm>
          <a:prstGeom prst="rect">
            <a:avLst/>
          </a:prstGeom>
          <a:noFill/>
        </p:spPr>
        <p:txBody>
          <a:bodyPr wrap="square" lIns="0" rIns="0" tIns="0" bIns="0">
            <a:noAutofit/>
          </a:bodyPr>
          <a:lstStyle/>
          <a:p>
            <a:pPr algn="l"/>
            <a:r>
              <a:rPr sz="1300" b="1" i="0">
                <a:solidFill>
                  <a:srgbClr val="A3E3F0"/>
                </a:solidFill>
                <a:latin typeface="Montserrat"/>
              </a:rPr>
              <a:t>05</a:t>
            </a:r>
          </a:p>
        </p:txBody>
      </p:sp>
      <p:sp>
        <p:nvSpPr>
          <p:cNvPr id="21" name="TextBox 20"/>
          <p:cNvSpPr txBox="1"/>
          <p:nvPr/>
        </p:nvSpPr>
        <p:spPr>
          <a:xfrm>
            <a:off x="914400" y="2971800"/>
            <a:ext cx="5067300" cy="228600"/>
          </a:xfrm>
          <a:prstGeom prst="rect">
            <a:avLst/>
          </a:prstGeom>
          <a:noFill/>
        </p:spPr>
        <p:txBody>
          <a:bodyPr wrap="square" lIns="0" rIns="0" tIns="0" bIns="0">
            <a:noAutofit/>
          </a:bodyPr>
          <a:lstStyle/>
          <a:p>
            <a:pPr algn="l"/>
            <a:r>
              <a:rPr sz="1400" b="1" i="0">
                <a:solidFill>
                  <a:srgbClr val="FFFFFF"/>
                </a:solidFill>
                <a:latin typeface="Montserrat"/>
              </a:rPr>
              <a:t>Escolha o modelo certo</a:t>
            </a:r>
          </a:p>
        </p:txBody>
      </p:sp>
      <p:sp>
        <p:nvSpPr>
          <p:cNvPr id="22" name="TextBox 21"/>
          <p:cNvSpPr txBox="1"/>
          <p:nvPr/>
        </p:nvSpPr>
        <p:spPr>
          <a:xfrm>
            <a:off x="914400" y="3219450"/>
            <a:ext cx="5067300" cy="64770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Outreach direto (budget curto) vs. plataforma vs. agência full-service (cliente grande).</a:t>
            </a:r>
          </a:p>
        </p:txBody>
      </p:sp>
      <p:sp>
        <p:nvSpPr>
          <p:cNvPr id="23" name="TextBox 22"/>
          <p:cNvSpPr txBox="1"/>
          <p:nvPr/>
        </p:nvSpPr>
        <p:spPr>
          <a:xfrm>
            <a:off x="6210300" y="2990850"/>
            <a:ext cx="285750" cy="209550"/>
          </a:xfrm>
          <a:prstGeom prst="rect">
            <a:avLst/>
          </a:prstGeom>
          <a:noFill/>
        </p:spPr>
        <p:txBody>
          <a:bodyPr wrap="square" lIns="0" rIns="0" tIns="0" bIns="0">
            <a:noAutofit/>
          </a:bodyPr>
          <a:lstStyle/>
          <a:p>
            <a:pPr algn="l"/>
            <a:r>
              <a:rPr sz="1300" b="1" i="0">
                <a:solidFill>
                  <a:srgbClr val="A3E3F0"/>
                </a:solidFill>
                <a:latin typeface="Montserrat"/>
              </a:rPr>
              <a:t>06</a:t>
            </a:r>
          </a:p>
        </p:txBody>
      </p:sp>
      <p:sp>
        <p:nvSpPr>
          <p:cNvPr id="24" name="TextBox 23"/>
          <p:cNvSpPr txBox="1"/>
          <p:nvPr/>
        </p:nvSpPr>
        <p:spPr>
          <a:xfrm>
            <a:off x="6515100" y="2971800"/>
            <a:ext cx="5067300" cy="228600"/>
          </a:xfrm>
          <a:prstGeom prst="rect">
            <a:avLst/>
          </a:prstGeom>
          <a:noFill/>
        </p:spPr>
        <p:txBody>
          <a:bodyPr wrap="square" lIns="0" rIns="0" tIns="0" bIns="0">
            <a:noAutofit/>
          </a:bodyPr>
          <a:lstStyle/>
          <a:p>
            <a:pPr algn="l"/>
            <a:r>
              <a:rPr sz="1400" b="1" i="0">
                <a:solidFill>
                  <a:srgbClr val="FFFFFF"/>
                </a:solidFill>
                <a:latin typeface="Montserrat"/>
              </a:rPr>
              <a:t>Não pare na campanha única</a:t>
            </a:r>
          </a:p>
        </p:txBody>
      </p:sp>
      <p:sp>
        <p:nvSpPr>
          <p:cNvPr id="25" name="TextBox 24"/>
          <p:cNvSpPr txBox="1"/>
          <p:nvPr/>
        </p:nvSpPr>
        <p:spPr>
          <a:xfrm>
            <a:off x="6515100" y="3219450"/>
            <a:ext cx="5067300" cy="647700"/>
          </a:xfrm>
          <a:prstGeom prst="rect">
            <a:avLst/>
          </a:prstGeom>
          <a:noFill/>
        </p:spPr>
        <p:txBody>
          <a:bodyPr wrap="square" lIns="0" rIns="0" tIns="0" bIns="0">
            <a:noAutofit/>
          </a:bodyPr>
          <a:lstStyle/>
          <a:p>
            <a:pPr algn="l">
              <a:lnSpc>
                <a:spcPct val="125000"/>
              </a:lnSpc>
              <a:spcAft>
                <a:spcPts val="800"/>
              </a:spcAft>
            </a:pPr>
            <a:r>
              <a:rPr sz="1250" b="0" i="0">
                <a:solidFill>
                  <a:srgbClr val="9A9AB8"/>
                </a:solidFill>
                <a:latin typeface="Inter"/>
              </a:rPr>
              <a:t>Vire embaixador: calendário recorrente, recompensa escalonada. Indicação retém 37% melhor.</a:t>
            </a:r>
          </a:p>
        </p:txBody>
      </p:sp>
      <p:sp>
        <p:nvSpPr>
          <p:cNvPr id="26" name="Rectangle 25"/>
          <p:cNvSpPr/>
          <p:nvPr/>
        </p:nvSpPr>
        <p:spPr>
          <a:xfrm>
            <a:off x="609600" y="3981450"/>
            <a:ext cx="5715" cy="857250"/>
          </a:xfrm>
          <a:prstGeom prst="rect">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1050" y="3981450"/>
            <a:ext cx="10801350" cy="857250"/>
          </a:xfrm>
          <a:prstGeom prst="rect">
            <a:avLst/>
          </a:prstGeom>
          <a:noFill/>
        </p:spPr>
        <p:txBody>
          <a:bodyPr wrap="square" lIns="0" rIns="0">
            <a:noAutofit/>
          </a:bodyPr>
          <a:lstStyle/>
          <a:p>
            <a:pPr>
              <a:lnSpc>
                <a:spcPct val="135000"/>
              </a:lnSpc>
              <a:spcAft>
                <a:spcPts val="1000"/>
              </a:spcAft>
            </a:pPr>
            <a:r>
              <a:rPr i="1" sz="1450">
                <a:solidFill>
                  <a:srgbClr val="FFFFFF"/>
                </a:solidFill>
                <a:latin typeface="Inter"/>
              </a:rPr>
              <a:t>“A base inteira do marketing de influência é construída em confiança — se essa confiança é traída, não há conversão nenhuma.”</a:t>
            </a:r>
          </a:p>
          <a:p>
            <a:r>
              <a:rPr b="1" sz="1100">
                <a:solidFill>
                  <a:srgbClr val="A3E3F0"/>
                </a:solidFill>
                <a:latin typeface="Inter"/>
              </a:rPr>
              <a:t>MIKE ALTON, AGORAPULSE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08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 9 · O FUTURO, DIRETO · ~1 MIN</a:t>
            </a:r>
          </a:p>
        </p:txBody>
      </p:sp>
      <p:sp>
        <p:nvSpPr>
          <p:cNvPr id="6" name="Rounded Rectangle 5"/>
          <p:cNvSpPr/>
          <p:nvPr/>
        </p:nvSpPr>
        <p:spPr>
          <a:xfrm>
            <a:off x="609600" y="857250"/>
            <a:ext cx="3505200" cy="2000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050" y="1028700"/>
            <a:ext cx="3162300" cy="247650"/>
          </a:xfrm>
          <a:prstGeom prst="rect">
            <a:avLst/>
          </a:prstGeom>
          <a:noFill/>
        </p:spPr>
        <p:txBody>
          <a:bodyPr wrap="square" lIns="0" rIns="0" tIns="0" bIns="0">
            <a:noAutofit/>
          </a:bodyPr>
          <a:lstStyle/>
          <a:p>
            <a:pPr algn="l"/>
            <a:r>
              <a:rPr sz="1500" b="1" i="0">
                <a:solidFill>
                  <a:srgbClr val="FFFFFF"/>
                </a:solidFill>
                <a:latin typeface="Montserrat"/>
              </a:rPr>
              <a:t>01</a:t>
            </a:r>
          </a:p>
        </p:txBody>
      </p:sp>
      <p:sp>
        <p:nvSpPr>
          <p:cNvPr id="8" name="TextBox 7"/>
          <p:cNvSpPr txBox="1"/>
          <p:nvPr/>
        </p:nvSpPr>
        <p:spPr>
          <a:xfrm>
            <a:off x="781050" y="1314450"/>
            <a:ext cx="3162300" cy="140970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Influenciador deixa de ser “amplificador de mídia” e vira parte integral da estratégia.</a:t>
            </a:r>
          </a:p>
        </p:txBody>
      </p:sp>
      <p:sp>
        <p:nvSpPr>
          <p:cNvPr id="9" name="Rounded Rectangle 8"/>
          <p:cNvSpPr/>
          <p:nvPr/>
        </p:nvSpPr>
        <p:spPr>
          <a:xfrm>
            <a:off x="4343400" y="857250"/>
            <a:ext cx="3505200" cy="2000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14850" y="1028700"/>
            <a:ext cx="3162300" cy="247650"/>
          </a:xfrm>
          <a:prstGeom prst="rect">
            <a:avLst/>
          </a:prstGeom>
          <a:noFill/>
        </p:spPr>
        <p:txBody>
          <a:bodyPr wrap="square" lIns="0" rIns="0" tIns="0" bIns="0">
            <a:noAutofit/>
          </a:bodyPr>
          <a:lstStyle/>
          <a:p>
            <a:pPr algn="l"/>
            <a:r>
              <a:rPr sz="1500" b="1" i="0">
                <a:solidFill>
                  <a:srgbClr val="FFFFFF"/>
                </a:solidFill>
                <a:latin typeface="Montserrat"/>
              </a:rPr>
              <a:t>02</a:t>
            </a:r>
          </a:p>
        </p:txBody>
      </p:sp>
      <p:sp>
        <p:nvSpPr>
          <p:cNvPr id="11" name="TextBox 10"/>
          <p:cNvSpPr txBox="1"/>
          <p:nvPr/>
        </p:nvSpPr>
        <p:spPr>
          <a:xfrm>
            <a:off x="4514850" y="1314450"/>
            <a:ext cx="3162300" cy="140970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Vídeo (TikTok/Reels) domina o formato — quem não entrega vídeo fica pra trás.</a:t>
            </a:r>
          </a:p>
        </p:txBody>
      </p:sp>
      <p:sp>
        <p:nvSpPr>
          <p:cNvPr id="12" name="Rounded Rectangle 11"/>
          <p:cNvSpPr/>
          <p:nvPr/>
        </p:nvSpPr>
        <p:spPr>
          <a:xfrm>
            <a:off x="8077200" y="857250"/>
            <a:ext cx="3505200" cy="2000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8650" y="1028700"/>
            <a:ext cx="3162300" cy="247650"/>
          </a:xfrm>
          <a:prstGeom prst="rect">
            <a:avLst/>
          </a:prstGeom>
          <a:noFill/>
        </p:spPr>
        <p:txBody>
          <a:bodyPr wrap="square" lIns="0" rIns="0" tIns="0" bIns="0">
            <a:noAutofit/>
          </a:bodyPr>
          <a:lstStyle/>
          <a:p>
            <a:pPr algn="l"/>
            <a:r>
              <a:rPr sz="1500" b="1" i="0">
                <a:solidFill>
                  <a:srgbClr val="FFFFFF"/>
                </a:solidFill>
                <a:latin typeface="Montserrat"/>
              </a:rPr>
              <a:t>03</a:t>
            </a:r>
          </a:p>
        </p:txBody>
      </p:sp>
      <p:sp>
        <p:nvSpPr>
          <p:cNvPr id="14" name="TextBox 13"/>
          <p:cNvSpPr txBox="1"/>
          <p:nvPr/>
        </p:nvSpPr>
        <p:spPr>
          <a:xfrm>
            <a:off x="8248650" y="1314450"/>
            <a:ext cx="3162300" cy="140970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A pergunta muda de “quanto alcance” pra “dá pra confiar nesse dado?”</a:t>
            </a:r>
          </a:p>
        </p:txBody>
      </p:sp>
      <p:sp>
        <p:nvSpPr>
          <p:cNvPr id="15" name="Rounded Rectangle 14"/>
          <p:cNvSpPr/>
          <p:nvPr/>
        </p:nvSpPr>
        <p:spPr>
          <a:xfrm>
            <a:off x="609600" y="3143250"/>
            <a:ext cx="5372100" cy="2476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1050" y="3314700"/>
            <a:ext cx="5715" cy="2133600"/>
          </a:xfrm>
          <a:prstGeom prst="rect">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2500" y="3314700"/>
            <a:ext cx="4857750" cy="2133600"/>
          </a:xfrm>
          <a:prstGeom prst="rect">
            <a:avLst/>
          </a:prstGeom>
          <a:noFill/>
        </p:spPr>
        <p:txBody>
          <a:bodyPr wrap="square" lIns="0" rIns="0">
            <a:noAutofit/>
          </a:bodyPr>
          <a:lstStyle/>
          <a:p>
            <a:pPr>
              <a:lnSpc>
                <a:spcPct val="135000"/>
              </a:lnSpc>
              <a:spcAft>
                <a:spcPts val="1000"/>
              </a:spcAft>
            </a:pPr>
            <a:r>
              <a:rPr i="1" sz="1600">
                <a:solidFill>
                  <a:srgbClr val="FFFFFF"/>
                </a:solidFill>
                <a:latin typeface="Inter"/>
              </a:rPr>
              <a:t>“O marketing de influência será muito mais envolvido como algo integral, em vez de amplificador de mídia.”</a:t>
            </a:r>
          </a:p>
          <a:p>
            <a:r>
              <a:rPr b="1" sz="1100">
                <a:solidFill>
                  <a:srgbClr val="A3E3F0"/>
                </a:solidFill>
                <a:latin typeface="Inter"/>
              </a:rPr>
              <a:t>GORDON GLENISTER</a:t>
            </a:r>
          </a:p>
        </p:txBody>
      </p:sp>
      <p:sp>
        <p:nvSpPr>
          <p:cNvPr id="18" name="Rounded Rectangle 17"/>
          <p:cNvSpPr/>
          <p:nvPr/>
        </p:nvSpPr>
        <p:spPr>
          <a:xfrm>
            <a:off x="6210300" y="3143250"/>
            <a:ext cx="5372100" cy="2476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81750" y="3314700"/>
            <a:ext cx="5715" cy="2133600"/>
          </a:xfrm>
          <a:prstGeom prst="rect">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53200" y="3314700"/>
            <a:ext cx="4857750" cy="2133600"/>
          </a:xfrm>
          <a:prstGeom prst="rect">
            <a:avLst/>
          </a:prstGeom>
          <a:noFill/>
        </p:spPr>
        <p:txBody>
          <a:bodyPr wrap="square" lIns="0" rIns="0">
            <a:noAutofit/>
          </a:bodyPr>
          <a:lstStyle/>
          <a:p>
            <a:pPr>
              <a:lnSpc>
                <a:spcPct val="135000"/>
              </a:lnSpc>
              <a:spcAft>
                <a:spcPts val="1000"/>
              </a:spcAft>
            </a:pPr>
            <a:r>
              <a:rPr i="1" sz="1600">
                <a:solidFill>
                  <a:srgbClr val="FFFFFF"/>
                </a:solidFill>
                <a:latin typeface="Inter"/>
              </a:rPr>
              <a:t>“A forma de contar histórias terá papel maior com a rejeição dos métodos tradicionais de propaganda.”</a:t>
            </a:r>
          </a:p>
          <a:p>
            <a:r>
              <a:rPr b="1" sz="1100">
                <a:solidFill>
                  <a:srgbClr val="A3E3F0"/>
                </a:solidFill>
                <a:latin typeface="Inter"/>
              </a:rPr>
              <a:t>GORDON GLENISTER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09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 10 · MÉTRICAS QUE PROVAM RESULTADO · ~1,5 MIN</a:t>
            </a:r>
          </a:p>
        </p:txBody>
      </p:sp>
      <p:sp>
        <p:nvSpPr>
          <p:cNvPr id="6" name="TextBox 5"/>
          <p:cNvSpPr txBox="1"/>
          <p:nvPr/>
        </p:nvSpPr>
        <p:spPr>
          <a:xfrm>
            <a:off x="609600" y="647700"/>
            <a:ext cx="10972800" cy="476250"/>
          </a:xfrm>
          <a:prstGeom prst="rect">
            <a:avLst/>
          </a:prstGeom>
          <a:noFill/>
        </p:spPr>
        <p:txBody>
          <a:bodyPr wrap="square" lIns="0" rIns="0" tIns="0" bIns="0">
            <a:noAutofit/>
          </a:bodyPr>
          <a:lstStyle/>
          <a:p>
            <a:pPr algn="l">
              <a:lnSpc>
                <a:spcPct val="110000"/>
              </a:lnSpc>
            </a:pPr>
            <a:r>
              <a:rPr sz="2500" b="1" i="0">
                <a:solidFill>
                  <a:srgbClr val="FFFFFF"/>
                </a:solidFill>
                <a:latin typeface="Montserrat"/>
              </a:rPr>
              <a:t>Sai a vaidade, entra o dado</a:t>
            </a:r>
          </a:p>
        </p:txBody>
      </p:sp>
      <p:sp>
        <p:nvSpPr>
          <p:cNvPr id="7" name="Rectangle 6"/>
          <p:cNvSpPr/>
          <p:nvPr/>
        </p:nvSpPr>
        <p:spPr>
          <a:xfrm>
            <a:off x="609600" y="1047750"/>
            <a:ext cx="419100" cy="2857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09600" y="1333500"/>
            <a:ext cx="350520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1050" y="1485900"/>
            <a:ext cx="3162300" cy="381000"/>
          </a:xfrm>
          <a:prstGeom prst="rect">
            <a:avLst/>
          </a:prstGeom>
          <a:noFill/>
        </p:spPr>
        <p:txBody>
          <a:bodyPr wrap="square" lIns="0" rIns="0" tIns="0" bIns="0">
            <a:noAutofit/>
          </a:bodyPr>
          <a:lstStyle/>
          <a:p>
            <a:pPr algn="l"/>
            <a:r>
              <a:rPr sz="2500" b="1" i="0">
                <a:solidFill>
                  <a:srgbClr val="A3E3F0"/>
                </a:solidFill>
                <a:latin typeface="Montserrat"/>
              </a:rPr>
              <a:t>3–6%</a:t>
            </a:r>
          </a:p>
        </p:txBody>
      </p:sp>
      <p:sp>
        <p:nvSpPr>
          <p:cNvPr id="10" name="TextBox 9"/>
          <p:cNvSpPr txBox="1"/>
          <p:nvPr/>
        </p:nvSpPr>
        <p:spPr>
          <a:xfrm>
            <a:off x="781050" y="1885950"/>
            <a:ext cx="3162300" cy="57150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engajamento considerado bom no Instagram</a:t>
            </a:r>
          </a:p>
        </p:txBody>
      </p:sp>
      <p:sp>
        <p:nvSpPr>
          <p:cNvPr id="11" name="Rounded Rectangle 10"/>
          <p:cNvSpPr/>
          <p:nvPr/>
        </p:nvSpPr>
        <p:spPr>
          <a:xfrm>
            <a:off x="4343400" y="1333500"/>
            <a:ext cx="350520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4850" y="1485900"/>
            <a:ext cx="3162300" cy="381000"/>
          </a:xfrm>
          <a:prstGeom prst="rect">
            <a:avLst/>
          </a:prstGeom>
          <a:noFill/>
        </p:spPr>
        <p:txBody>
          <a:bodyPr wrap="square" lIns="0" rIns="0" tIns="0" bIns="0">
            <a:noAutofit/>
          </a:bodyPr>
          <a:lstStyle/>
          <a:p>
            <a:pPr algn="l"/>
            <a:r>
              <a:rPr sz="2500" b="1" i="0">
                <a:solidFill>
                  <a:srgbClr val="A3E3F0"/>
                </a:solidFill>
                <a:latin typeface="Montserrat"/>
              </a:rPr>
              <a:t>10%+</a:t>
            </a:r>
          </a:p>
        </p:txBody>
      </p:sp>
      <p:sp>
        <p:nvSpPr>
          <p:cNvPr id="13" name="TextBox 12"/>
          <p:cNvSpPr txBox="1"/>
          <p:nvPr/>
        </p:nvSpPr>
        <p:spPr>
          <a:xfrm>
            <a:off x="4514850" y="1885950"/>
            <a:ext cx="3162300" cy="571500"/>
          </a:xfrm>
          <a:prstGeom prst="rect">
            <a:avLst/>
          </a:prstGeom>
          <a:noFill/>
        </p:spPr>
        <p:txBody>
          <a:bodyPr wrap="square" lIns="0" rIns="0" tIns="0" bIns="0">
            <a:noAutofit/>
          </a:bodyPr>
          <a:lstStyle/>
          <a:p>
            <a:pPr algn="l">
              <a:lnSpc>
                <a:spcPct val="120000"/>
              </a:lnSpc>
              <a:spcAft>
                <a:spcPts val="800"/>
              </a:spcAft>
            </a:pPr>
            <a:r>
              <a:rPr sz="1250" b="0" i="0">
                <a:solidFill>
                  <a:srgbClr val="9A9AB8"/>
                </a:solidFill>
                <a:latin typeface="Inter"/>
              </a:rPr>
              <a:t>engajamento considerado excelente</a:t>
            </a:r>
          </a:p>
        </p:txBody>
      </p:sp>
      <p:sp>
        <p:nvSpPr>
          <p:cNvPr id="14" name="Rounded Rectangle 13"/>
          <p:cNvSpPr/>
          <p:nvPr/>
        </p:nvSpPr>
        <p:spPr>
          <a:xfrm>
            <a:off x="8077200" y="1333500"/>
            <a:ext cx="3505200" cy="12382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48650" y="1504950"/>
            <a:ext cx="3162300" cy="247650"/>
          </a:xfrm>
          <a:prstGeom prst="rect">
            <a:avLst/>
          </a:prstGeom>
          <a:noFill/>
        </p:spPr>
        <p:txBody>
          <a:bodyPr wrap="square" lIns="0" rIns="0" tIns="0" bIns="0">
            <a:noAutofit/>
          </a:bodyPr>
          <a:lstStyle/>
          <a:p>
            <a:pPr algn="l"/>
            <a:r>
              <a:rPr sz="1500" b="1" i="0">
                <a:solidFill>
                  <a:srgbClr val="FFFFFF"/>
                </a:solidFill>
                <a:latin typeface="Montserrat"/>
              </a:rPr>
              <a:t>CPE, não curtida</a:t>
            </a:r>
          </a:p>
        </p:txBody>
      </p:sp>
      <p:sp>
        <p:nvSpPr>
          <p:cNvPr id="16" name="TextBox 15"/>
          <p:cNvSpPr txBox="1"/>
          <p:nvPr/>
        </p:nvSpPr>
        <p:spPr>
          <a:xfrm>
            <a:off x="8248650" y="1790700"/>
            <a:ext cx="3162300" cy="64770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Sair de métrica de vaidade pra custo por engajamento e custo por conversão real.</a:t>
            </a:r>
          </a:p>
        </p:txBody>
      </p:sp>
      <p:sp>
        <p:nvSpPr>
          <p:cNvPr id="17" name="Rounded Rectangle 16"/>
          <p:cNvSpPr/>
          <p:nvPr/>
        </p:nvSpPr>
        <p:spPr>
          <a:xfrm>
            <a:off x="609600" y="2857500"/>
            <a:ext cx="10972800" cy="142875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1050" y="3028950"/>
            <a:ext cx="10629900" cy="247650"/>
          </a:xfrm>
          <a:prstGeom prst="rect">
            <a:avLst/>
          </a:prstGeom>
          <a:noFill/>
        </p:spPr>
        <p:txBody>
          <a:bodyPr wrap="square" lIns="0" rIns="0" tIns="0" bIns="0">
            <a:noAutofit/>
          </a:bodyPr>
          <a:lstStyle/>
          <a:p>
            <a:pPr algn="l"/>
            <a:r>
              <a:rPr sz="1500" b="1" i="0">
                <a:solidFill>
                  <a:srgbClr val="FFFFFF"/>
                </a:solidFill>
                <a:latin typeface="Montserrat"/>
              </a:rPr>
              <a:t>O que toda campanha viral bem-sucedida tem em comum</a:t>
            </a:r>
          </a:p>
        </p:txBody>
      </p:sp>
      <p:sp>
        <p:nvSpPr>
          <p:cNvPr id="19" name="TextBox 18"/>
          <p:cNvSpPr txBox="1"/>
          <p:nvPr/>
        </p:nvSpPr>
        <p:spPr>
          <a:xfrm>
            <a:off x="781050" y="3352800"/>
            <a:ext cx="5200650" cy="857250"/>
          </a:xfrm>
          <a:prstGeom prst="rect">
            <a:avLst/>
          </a:prstGeom>
          <a:noFill/>
        </p:spPr>
        <p:txBody>
          <a:bodyPr wrap="square" lIns="0" rIns="0" tIns="0" bIns="0">
            <a:noAutofit/>
          </a:bodyPr>
          <a:lstStyle/>
          <a:p>
            <a:pPr algn="l">
              <a:lnSpc>
                <a:spcPct val="125000"/>
              </a:lnSpc>
              <a:spcAft>
                <a:spcPts val="800"/>
              </a:spcAft>
            </a:pPr>
            <a:r>
              <a:rPr sz="1300" b="1" i="0">
                <a:solidFill>
                  <a:srgbClr val="A3E3F0"/>
                </a:solidFill>
                <a:latin typeface="Inter"/>
              </a:rPr>
              <a:t>•  </a:t>
            </a:r>
            <a:r>
              <a:rPr sz="1300" b="0" i="0">
                <a:solidFill>
                  <a:srgbClr val="E4E4F0"/>
                </a:solidFill>
                <a:latin typeface="Inter"/>
              </a:rPr>
              <a:t>Mensagem simples com CTA claro</a:t>
            </a:r>
          </a:p>
          <a:p>
            <a:pPr algn="l">
              <a:lnSpc>
                <a:spcPct val="125000"/>
              </a:lnSpc>
              <a:spcAft>
                <a:spcPts val="800"/>
              </a:spcAft>
            </a:pPr>
            <a:r>
              <a:rPr sz="1300" b="1" i="0">
                <a:solidFill>
                  <a:srgbClr val="A3E3F0"/>
                </a:solidFill>
                <a:latin typeface="Inter"/>
              </a:rPr>
              <a:t>•  </a:t>
            </a:r>
            <a:r>
              <a:rPr sz="1300" b="0" i="0">
                <a:solidFill>
                  <a:srgbClr val="E4E4F0"/>
                </a:solidFill>
                <a:latin typeface="Inter"/>
              </a:rPr>
              <a:t>Conexão emocional real</a:t>
            </a:r>
          </a:p>
        </p:txBody>
      </p:sp>
      <p:sp>
        <p:nvSpPr>
          <p:cNvPr id="20" name="TextBox 19"/>
          <p:cNvSpPr txBox="1"/>
          <p:nvPr/>
        </p:nvSpPr>
        <p:spPr>
          <a:xfrm>
            <a:off x="6210300" y="3352800"/>
            <a:ext cx="5200650" cy="857250"/>
          </a:xfrm>
          <a:prstGeom prst="rect">
            <a:avLst/>
          </a:prstGeom>
          <a:noFill/>
        </p:spPr>
        <p:txBody>
          <a:bodyPr wrap="square" lIns="0" rIns="0" tIns="0" bIns="0">
            <a:noAutofit/>
          </a:bodyPr>
          <a:lstStyle/>
          <a:p>
            <a:pPr algn="l">
              <a:lnSpc>
                <a:spcPct val="125000"/>
              </a:lnSpc>
              <a:spcAft>
                <a:spcPts val="800"/>
              </a:spcAft>
            </a:pPr>
            <a:r>
              <a:rPr sz="1300" b="1" i="0">
                <a:solidFill>
                  <a:srgbClr val="A3E3F0"/>
                </a:solidFill>
                <a:latin typeface="Inter"/>
              </a:rPr>
              <a:t>•  </a:t>
            </a:r>
            <a:r>
              <a:rPr sz="1300" b="0" i="0">
                <a:solidFill>
                  <a:srgbClr val="E4E4F0"/>
                </a:solidFill>
                <a:latin typeface="Inter"/>
              </a:rPr>
              <a:t>Presença em múltiplas plataformas</a:t>
            </a:r>
          </a:p>
          <a:p>
            <a:pPr algn="l">
              <a:lnSpc>
                <a:spcPct val="125000"/>
              </a:lnSpc>
              <a:spcAft>
                <a:spcPts val="800"/>
              </a:spcAft>
            </a:pPr>
            <a:r>
              <a:rPr sz="1300" b="1" i="0">
                <a:solidFill>
                  <a:srgbClr val="A3E3F0"/>
                </a:solidFill>
                <a:latin typeface="Inter"/>
              </a:rPr>
              <a:t>•  </a:t>
            </a:r>
            <a:r>
              <a:rPr sz="1300" b="0" i="0">
                <a:solidFill>
                  <a:srgbClr val="E4E4F0"/>
                </a:solidFill>
                <a:latin typeface="Inter"/>
              </a:rPr>
              <a:t>Comunicação contínua durante a campanha</a:t>
            </a:r>
          </a:p>
        </p:txBody>
      </p:sp>
      <p:sp>
        <p:nvSpPr>
          <p:cNvPr id="21" name="TextBox 20"/>
          <p:cNvSpPr txBox="1"/>
          <p:nvPr/>
        </p:nvSpPr>
        <p:spPr>
          <a:xfrm>
            <a:off x="609600" y="4572000"/>
            <a:ext cx="10972800" cy="381000"/>
          </a:xfrm>
          <a:prstGeom prst="rect">
            <a:avLst/>
          </a:prstGeom>
          <a:noFill/>
        </p:spPr>
        <p:txBody>
          <a:bodyPr wrap="square" lIns="0" rIns="0" tIns="0" bIns="0">
            <a:noAutofit/>
          </a:bodyPr>
          <a:lstStyle/>
          <a:p>
            <a:pPr algn="l">
              <a:lnSpc>
                <a:spcPct val="130000"/>
              </a:lnSpc>
              <a:spcAft>
                <a:spcPts val="0"/>
              </a:spcAft>
            </a:pPr>
            <a:r>
              <a:rPr sz="1500" b="1" i="0">
                <a:solidFill>
                  <a:srgbClr val="FFFFFF"/>
                </a:solidFill>
                <a:latin typeface="Inter"/>
              </a:rPr>
              <a:t>Regra prática: </a:t>
            </a:r>
            <a:r>
              <a:rPr sz="1500" b="0" i="0">
                <a:solidFill>
                  <a:srgbClr val="9A9AB8"/>
                </a:solidFill>
                <a:latin typeface="Inter"/>
              </a:rPr>
              <a:t>se não dá pra medir antes de começar, não é campanha, é aposta.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10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CAPÍTULO 11 · CASE DO LIVRO + REALIDADE ATUAL · ~1,5 MIN</a:t>
            </a:r>
          </a:p>
        </p:txBody>
      </p:sp>
      <p:sp>
        <p:nvSpPr>
          <p:cNvPr id="6" name="Rounded Rectangle 5"/>
          <p:cNvSpPr/>
          <p:nvPr/>
        </p:nvSpPr>
        <p:spPr>
          <a:xfrm>
            <a:off x="609600" y="857250"/>
            <a:ext cx="5372100" cy="26670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050" y="1028700"/>
            <a:ext cx="5029200" cy="247650"/>
          </a:xfrm>
          <a:prstGeom prst="rect">
            <a:avLst/>
          </a:prstGeom>
          <a:noFill/>
        </p:spPr>
        <p:txBody>
          <a:bodyPr wrap="square" lIns="0" rIns="0" tIns="0" bIns="0">
            <a:noAutofit/>
          </a:bodyPr>
          <a:lstStyle/>
          <a:p>
            <a:pPr algn="l"/>
            <a:r>
              <a:rPr sz="1500" b="1" i="0">
                <a:solidFill>
                  <a:srgbClr val="FFFFFF"/>
                </a:solidFill>
                <a:latin typeface="Montserrat"/>
              </a:rPr>
              <a:t>O case mais parecido com nosso cliente</a:t>
            </a:r>
          </a:p>
        </p:txBody>
      </p:sp>
      <p:sp>
        <p:nvSpPr>
          <p:cNvPr id="8" name="TextBox 7"/>
          <p:cNvSpPr txBox="1"/>
          <p:nvPr/>
        </p:nvSpPr>
        <p:spPr>
          <a:xfrm>
            <a:off x="781050" y="1314450"/>
            <a:ext cx="5029200" cy="207645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Donos de um restaurante vegetariano em Londres, budget mínimo, ofereceram refeição grátis a influenciadores locais de nicho. </a:t>
            </a:r>
            <a:r>
              <a:rPr sz="1300" b="1" i="0">
                <a:solidFill>
                  <a:srgbClr val="FFFFFF"/>
                </a:solidFill>
                <a:latin typeface="Inter"/>
              </a:rPr>
              <a:t>Um único influenciador gerou quatro reservas de mesa subsequentes.</a:t>
            </a:r>
            <a:r>
              <a:rPr sz="1300" b="0" i="0">
                <a:solidFill>
                  <a:srgbClr val="9A9AB8"/>
                </a:solidFill>
                <a:latin typeface="Inter"/>
              </a:rPr>
              <a:t> Prova que funciona pra food service pequeno com orçamento curto.</a:t>
            </a:r>
          </a:p>
        </p:txBody>
      </p:sp>
      <p:sp>
        <p:nvSpPr>
          <p:cNvPr id="9" name="Rounded Rectangle 8"/>
          <p:cNvSpPr/>
          <p:nvPr/>
        </p:nvSpPr>
        <p:spPr>
          <a:xfrm>
            <a:off x="6210300" y="857250"/>
            <a:ext cx="5372100" cy="26670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81750" y="1009650"/>
            <a:ext cx="285750" cy="285750"/>
          </a:xfrm>
          <a:prstGeom prst="roundRect">
            <a:avLst>
              <a:gd name="adj" fmla="val 50000"/>
            </a:avLst>
          </a:prstGeom>
          <a:noFill/>
          <a:ln w="20320">
            <a:solidFill>
              <a:srgbClr val="A3E3F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A3E3F0"/>
                </a:solidFill>
                <a:latin typeface="Montserrat"/>
              </a:rPr>
              <a:t>!</a:t>
            </a:r>
          </a:p>
        </p:txBody>
      </p:sp>
      <p:sp>
        <p:nvSpPr>
          <p:cNvPr id="11" name="TextBox 10"/>
          <p:cNvSpPr txBox="1"/>
          <p:nvPr/>
        </p:nvSpPr>
        <p:spPr>
          <a:xfrm>
            <a:off x="6781800" y="1085850"/>
            <a:ext cx="4629150" cy="190500"/>
          </a:xfrm>
          <a:prstGeom prst="rect">
            <a:avLst/>
          </a:prstGeom>
          <a:noFill/>
        </p:spPr>
        <p:txBody>
          <a:bodyPr wrap="square" lIns="0" rIns="0" tIns="0" bIns="0">
            <a:noAutofit/>
          </a:bodyPr>
          <a:lstStyle/>
          <a:p>
            <a:pPr algn="l"/>
            <a:r>
              <a:rPr sz="1050" b="1" i="0" spc="60">
                <a:solidFill>
                  <a:srgbClr val="A3E3F0"/>
                </a:solidFill>
                <a:latin typeface="Inter"/>
              </a:rPr>
              <a:t>CONTRAPONTO DE RISCO · FYRE FESTIVAL</a:t>
            </a:r>
          </a:p>
        </p:txBody>
      </p:sp>
      <p:sp>
        <p:nvSpPr>
          <p:cNvPr id="12" name="TextBox 11"/>
          <p:cNvSpPr txBox="1"/>
          <p:nvPr/>
        </p:nvSpPr>
        <p:spPr>
          <a:xfrm>
            <a:off x="6381750" y="1428750"/>
            <a:ext cx="5029200" cy="1962150"/>
          </a:xfrm>
          <a:prstGeom prst="rect">
            <a:avLst/>
          </a:prstGeom>
          <a:noFill/>
        </p:spPr>
        <p:txBody>
          <a:bodyPr wrap="square" lIns="0" rIns="0" tIns="0" bIns="0">
            <a:noAutofit/>
          </a:bodyPr>
          <a:lstStyle/>
          <a:p>
            <a:pPr algn="l">
              <a:lnSpc>
                <a:spcPct val="130000"/>
              </a:lnSpc>
              <a:spcAft>
                <a:spcPts val="800"/>
              </a:spcAft>
            </a:pPr>
            <a:r>
              <a:rPr sz="1300" b="0" i="0">
                <a:solidFill>
                  <a:srgbClr val="9A9AB8"/>
                </a:solidFill>
                <a:latin typeface="Inter"/>
              </a:rPr>
              <a:t>Kendall Jenner recebeu US$ 250 mil por um post, evento vendeu 95% dos ingressos em 48h — e foi o maior desastre de execução do setor. Influenciador vende expectativa; quem não entrega destrói marca mais rápido do que qualquer post orgânico ruim.</a:t>
            </a:r>
          </a:p>
        </p:txBody>
      </p:sp>
      <p:sp>
        <p:nvSpPr>
          <p:cNvPr id="13" name="Rounded Rectangle 12"/>
          <p:cNvSpPr/>
          <p:nvPr/>
        </p:nvSpPr>
        <p:spPr>
          <a:xfrm>
            <a:off x="609600" y="3810000"/>
            <a:ext cx="10972800" cy="1333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200" y="4229100"/>
            <a:ext cx="2476500" cy="476250"/>
          </a:xfrm>
          <a:prstGeom prst="rect">
            <a:avLst/>
          </a:prstGeom>
          <a:noFill/>
        </p:spPr>
        <p:txBody>
          <a:bodyPr wrap="square" lIns="0" rIns="0" tIns="0" bIns="0">
            <a:noAutofit/>
          </a:bodyPr>
          <a:lstStyle/>
          <a:p>
            <a:pPr algn="l"/>
            <a:r>
              <a:rPr sz="3000" b="1" i="0">
                <a:solidFill>
                  <a:srgbClr val="A3E3F0"/>
                </a:solidFill>
                <a:latin typeface="Montserrat"/>
              </a:rPr>
              <a:t>R$ 455 bi</a:t>
            </a:r>
          </a:p>
        </p:txBody>
      </p:sp>
      <p:sp>
        <p:nvSpPr>
          <p:cNvPr id="15" name="TextBox 14"/>
          <p:cNvSpPr txBox="1"/>
          <p:nvPr/>
        </p:nvSpPr>
        <p:spPr>
          <a:xfrm>
            <a:off x="3467100" y="4133850"/>
            <a:ext cx="7886700" cy="857250"/>
          </a:xfrm>
          <a:prstGeom prst="rect">
            <a:avLst/>
          </a:prstGeom>
          <a:noFill/>
        </p:spPr>
        <p:txBody>
          <a:bodyPr wrap="square" lIns="0" rIns="0" tIns="0" bIns="0">
            <a:noAutofit/>
          </a:bodyPr>
          <a:lstStyle/>
          <a:p>
            <a:pPr algn="l">
              <a:lnSpc>
                <a:spcPct val="135000"/>
              </a:lnSpc>
              <a:spcAft>
                <a:spcPts val="0"/>
              </a:spcAft>
            </a:pPr>
            <a:r>
              <a:rPr sz="1400" b="0" i="0">
                <a:solidFill>
                  <a:srgbClr val="9A9AB8"/>
                </a:solidFill>
                <a:latin typeface="Inter"/>
              </a:rPr>
              <a:t>movimentados pelo food service brasileiro em 2024, com </a:t>
            </a:r>
            <a:r>
              <a:rPr sz="1400" b="1" i="0">
                <a:solidFill>
                  <a:srgbClr val="FFFFFF"/>
                </a:solidFill>
                <a:latin typeface="Inter"/>
              </a:rPr>
              <a:t>46%</a:t>
            </a:r>
            <a:r>
              <a:rPr sz="1400" b="0" i="0">
                <a:solidFill>
                  <a:srgbClr val="9A9AB8"/>
                </a:solidFill>
                <a:latin typeface="Inter"/>
              </a:rPr>
              <a:t> dos operadores já priorizando marketing digital em 2025 — o cliente já está pronto pra ouvir essa recomendação.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23344"/>
            </a:gs>
          </a:gsLst>
          <a:lin scaled="0" ang="16200000"/>
        </a:gradFill>
        <a:effectLst/>
      </p:bgPr>
    </p:bg>
    <p:spTree>
      <p:nvGrpSpPr>
        <p:cNvPr id="1" name=""/>
        <p:cNvGrpSpPr/>
        <p:nvPr/>
      </p:nvGrpSpPr>
      <p:grpSpPr/>
      <p:sp>
        <p:nvSpPr>
          <p:cNvPr id="2" name="Rectangle 1"/>
          <p:cNvSpPr/>
          <p:nvPr/>
        </p:nvSpPr>
        <p:spPr>
          <a:xfrm>
            <a:off x="0" y="6419850"/>
            <a:ext cx="12192000" cy="7144"/>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6534150"/>
            <a:ext cx="2857500" cy="190500"/>
          </a:xfrm>
          <a:prstGeom prst="rect">
            <a:avLst/>
          </a:prstGeom>
          <a:noFill/>
        </p:spPr>
        <p:txBody>
          <a:bodyPr wrap="square" lIns="0" rIns="0" tIns="0" bIns="0">
            <a:noAutofit/>
          </a:bodyPr>
          <a:lstStyle/>
          <a:p>
            <a:pPr algn="l"/>
            <a:r>
              <a:rPr sz="950" b="1" i="0" spc="60">
                <a:solidFill>
                  <a:srgbClr val="9A9AB8"/>
                </a:solidFill>
                <a:latin typeface="Inter"/>
              </a:rPr>
              <a:t>ARTTICO × TASTTO</a:t>
            </a:r>
          </a:p>
        </p:txBody>
      </p:sp>
      <p:sp>
        <p:nvSpPr>
          <p:cNvPr id="4" name="TextBox 3"/>
          <p:cNvSpPr txBox="1"/>
          <p:nvPr/>
        </p:nvSpPr>
        <p:spPr>
          <a:xfrm>
            <a:off x="10439400" y="6534150"/>
            <a:ext cx="1143000" cy="190500"/>
          </a:xfrm>
          <a:prstGeom prst="rect">
            <a:avLst/>
          </a:prstGeom>
          <a:noFill/>
        </p:spPr>
        <p:txBody>
          <a:bodyPr wrap="square" lIns="0" rIns="0" tIns="0" bIns="0">
            <a:noAutofit/>
          </a:bodyPr>
          <a:lstStyle/>
          <a:p>
            <a:pPr algn="r"/>
            <a:r>
              <a:rPr sz="950" b="0" i="0">
                <a:solidFill>
                  <a:srgbClr val="5C8A94"/>
                </a:solidFill>
                <a:latin typeface="Inter"/>
              </a:rPr>
              <a:t>11 / 12</a:t>
            </a:r>
          </a:p>
        </p:txBody>
      </p:sp>
      <p:sp>
        <p:nvSpPr>
          <p:cNvPr id="5" name="TextBox 4"/>
          <p:cNvSpPr txBox="1"/>
          <p:nvPr/>
        </p:nvSpPr>
        <p:spPr>
          <a:xfrm>
            <a:off x="609600" y="342900"/>
            <a:ext cx="10972800" cy="209550"/>
          </a:xfrm>
          <a:prstGeom prst="rect">
            <a:avLst/>
          </a:prstGeom>
          <a:noFill/>
        </p:spPr>
        <p:txBody>
          <a:bodyPr wrap="square" lIns="0" rIns="0" tIns="0" bIns="0">
            <a:noAutofit/>
          </a:bodyPr>
          <a:lstStyle/>
          <a:p>
            <a:pPr algn="l"/>
            <a:r>
              <a:rPr sz="1050" b="1" i="0" spc="100">
                <a:solidFill>
                  <a:srgbClr val="9A9AB8"/>
                </a:solidFill>
                <a:latin typeface="Inter"/>
              </a:rPr>
              <a:t>SÍNTESE · APLICAÇÃO ARTTICO &amp; TASTTO · ~1,5 MIN</a:t>
            </a:r>
          </a:p>
        </p:txBody>
      </p:sp>
      <p:sp>
        <p:nvSpPr>
          <p:cNvPr id="6" name="Rounded Rectangle 5"/>
          <p:cNvSpPr/>
          <p:nvPr/>
        </p:nvSpPr>
        <p:spPr>
          <a:xfrm>
            <a:off x="609600" y="857250"/>
            <a:ext cx="5372100" cy="3619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81050" y="1057275"/>
            <a:ext cx="76200" cy="76200"/>
          </a:xfrm>
          <a:prstGeom prst="ellipse">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3450" y="990600"/>
            <a:ext cx="3048000" cy="190500"/>
          </a:xfrm>
          <a:prstGeom prst="rect">
            <a:avLst/>
          </a:prstGeom>
          <a:noFill/>
        </p:spPr>
        <p:txBody>
          <a:bodyPr wrap="square" lIns="0" rIns="0" tIns="0" bIns="0">
            <a:noAutofit/>
          </a:bodyPr>
          <a:lstStyle/>
          <a:p>
            <a:pPr algn="l"/>
            <a:r>
              <a:rPr sz="1050" b="1" i="0" spc="60">
                <a:solidFill>
                  <a:srgbClr val="FFFFFF"/>
                </a:solidFill>
                <a:latin typeface="Inter"/>
              </a:rPr>
              <a:t>PRA ARTTICO</a:t>
            </a:r>
          </a:p>
        </p:txBody>
      </p:sp>
      <p:sp>
        <p:nvSpPr>
          <p:cNvPr id="9" name="TextBox 8"/>
          <p:cNvSpPr txBox="1"/>
          <p:nvPr/>
        </p:nvSpPr>
        <p:spPr>
          <a:xfrm>
            <a:off x="781050" y="1352550"/>
            <a:ext cx="5029200" cy="2952750"/>
          </a:xfrm>
          <a:prstGeom prst="rect">
            <a:avLst/>
          </a:prstGeom>
          <a:noFill/>
        </p:spPr>
        <p:txBody>
          <a:bodyPr wrap="square" lIns="0" rIns="0" tIns="0" bIns="0">
            <a:noAutofit/>
          </a:bodyPr>
          <a:lstStyle/>
          <a:p>
            <a:pPr algn="l">
              <a:lnSpc>
                <a:spcPct val="125000"/>
              </a:lnSpc>
              <a:spcAft>
                <a:spcPts val="800"/>
              </a:spcAft>
            </a:pPr>
            <a:r>
              <a:rPr sz="1350" b="1" i="0">
                <a:solidFill>
                  <a:srgbClr val="A3E3F0"/>
                </a:solidFill>
                <a:latin typeface="Inter"/>
              </a:rPr>
              <a:t>•  </a:t>
            </a:r>
            <a:r>
              <a:rPr sz="1350" b="0" i="0">
                <a:solidFill>
                  <a:srgbClr val="E4E4F0"/>
                </a:solidFill>
                <a:latin typeface="Inter"/>
              </a:rPr>
              <a:t>Influencer marketing entra como canal com meta e métrica, igual tráfego pago — nunca “vamos postar e ver no que dá”.</a:t>
            </a:r>
          </a:p>
          <a:p>
            <a:pPr algn="l">
              <a:lnSpc>
                <a:spcPct val="125000"/>
              </a:lnSpc>
              <a:spcAft>
                <a:spcPts val="800"/>
              </a:spcAft>
            </a:pPr>
            <a:r>
              <a:rPr sz="1350" b="1" i="0">
                <a:solidFill>
                  <a:srgbClr val="A3E3F0"/>
                </a:solidFill>
                <a:latin typeface="Inter"/>
              </a:rPr>
              <a:t>•  </a:t>
            </a:r>
            <a:r>
              <a:rPr sz="1350" b="0" i="0">
                <a:solidFill>
                  <a:srgbClr val="E4E4F0"/>
                </a:solidFill>
                <a:latin typeface="Inter"/>
              </a:rPr>
              <a:t>Food service é literalmente um dos setores que o livro aponta como melhor encaixe — isso valida recomendar com confiança pra carteira atual.</a:t>
            </a:r>
          </a:p>
          <a:p>
            <a:pPr algn="l">
              <a:lnSpc>
                <a:spcPct val="125000"/>
              </a:lnSpc>
              <a:spcAft>
                <a:spcPts val="800"/>
              </a:spcAft>
            </a:pPr>
            <a:r>
              <a:rPr sz="1350" b="1" i="0">
                <a:solidFill>
                  <a:srgbClr val="A3E3F0"/>
                </a:solidFill>
                <a:latin typeface="Inter"/>
              </a:rPr>
              <a:t>•  </a:t>
            </a:r>
            <a:r>
              <a:rPr sz="1350" b="0" i="0">
                <a:solidFill>
                  <a:srgbClr val="E4E4F0"/>
                </a:solidFill>
                <a:latin typeface="Inter"/>
              </a:rPr>
              <a:t>Permuta é ferramenta legítima pra cliente pequeno, mas só com critério de seleção e contrato mínimo.</a:t>
            </a:r>
          </a:p>
        </p:txBody>
      </p:sp>
      <p:sp>
        <p:nvSpPr>
          <p:cNvPr id="10" name="Rounded Rectangle 9"/>
          <p:cNvSpPr/>
          <p:nvPr/>
        </p:nvSpPr>
        <p:spPr>
          <a:xfrm>
            <a:off x="6210300" y="857250"/>
            <a:ext cx="5372100" cy="3619500"/>
          </a:xfrm>
          <a:prstGeom prst="roundRect">
            <a:avLst>
              <a:gd name="adj" fmla="val 5000"/>
            </a:avLst>
          </a:prstGeom>
          <a:solidFill>
            <a:srgbClr val="0A0A3D"/>
          </a:solidFill>
          <a:ln w="12700">
            <a:solidFill>
              <a:srgbClr val="30305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81750" y="1057275"/>
            <a:ext cx="76200" cy="76200"/>
          </a:xfrm>
          <a:prstGeom prst="ellipse">
            <a:avLst/>
          </a:prstGeom>
          <a:solidFill>
            <a:srgbClr val="B0A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4150" y="990600"/>
            <a:ext cx="3048000" cy="190500"/>
          </a:xfrm>
          <a:prstGeom prst="rect">
            <a:avLst/>
          </a:prstGeom>
          <a:noFill/>
        </p:spPr>
        <p:txBody>
          <a:bodyPr wrap="square" lIns="0" rIns="0" tIns="0" bIns="0">
            <a:noAutofit/>
          </a:bodyPr>
          <a:lstStyle/>
          <a:p>
            <a:pPr algn="l"/>
            <a:r>
              <a:rPr sz="1050" b="1" i="0" spc="60">
                <a:solidFill>
                  <a:srgbClr val="FFFFFF"/>
                </a:solidFill>
                <a:latin typeface="Inter"/>
              </a:rPr>
              <a:t>PRA TASTTO</a:t>
            </a:r>
          </a:p>
        </p:txBody>
      </p:sp>
      <p:sp>
        <p:nvSpPr>
          <p:cNvPr id="13" name="TextBox 12"/>
          <p:cNvSpPr txBox="1"/>
          <p:nvPr/>
        </p:nvSpPr>
        <p:spPr>
          <a:xfrm>
            <a:off x="6381750" y="1352550"/>
            <a:ext cx="5029200" cy="2952750"/>
          </a:xfrm>
          <a:prstGeom prst="rect">
            <a:avLst/>
          </a:prstGeom>
          <a:noFill/>
        </p:spPr>
        <p:txBody>
          <a:bodyPr wrap="square" lIns="0" rIns="0" tIns="0" bIns="0">
            <a:noAutofit/>
          </a:bodyPr>
          <a:lstStyle/>
          <a:p>
            <a:pPr algn="l">
              <a:lnSpc>
                <a:spcPct val="125000"/>
              </a:lnSpc>
              <a:spcAft>
                <a:spcPts val="800"/>
              </a:spcAft>
            </a:pPr>
            <a:r>
              <a:rPr sz="1350" b="1" i="0">
                <a:solidFill>
                  <a:srgbClr val="B0AFFF"/>
                </a:solidFill>
                <a:latin typeface="Inter"/>
              </a:rPr>
              <a:t>•  </a:t>
            </a:r>
            <a:r>
              <a:rPr sz="1350" b="0" i="0">
                <a:solidFill>
                  <a:srgbClr val="E4E4F0"/>
                </a:solidFill>
                <a:latin typeface="Inter"/>
              </a:rPr>
              <a:t>Toda campanha nasce com código promocional/link rastreável — sem isso, não dá pra provar ROI na reunião FIVE.</a:t>
            </a:r>
          </a:p>
          <a:p>
            <a:pPr algn="l">
              <a:lnSpc>
                <a:spcPct val="125000"/>
              </a:lnSpc>
              <a:spcAft>
                <a:spcPts val="800"/>
              </a:spcAft>
            </a:pPr>
            <a:r>
              <a:rPr sz="1350" b="1" i="0">
                <a:solidFill>
                  <a:srgbClr val="B0AFFF"/>
                </a:solidFill>
                <a:latin typeface="Inter"/>
              </a:rPr>
              <a:t>•  </a:t>
            </a:r>
            <a:r>
              <a:rPr sz="1350" b="0" i="0">
                <a:solidFill>
                  <a:srgbClr val="E4E4F0"/>
                </a:solidFill>
                <a:latin typeface="Inter"/>
              </a:rPr>
              <a:t>Influenciador vira fonte de dado, não só de alcance: quantas mesas, quantos pedidos, qual prato teve mais menção.</a:t>
            </a:r>
          </a:p>
        </p:txBody>
      </p:sp>
      <p:sp>
        <p:nvSpPr>
          <p:cNvPr id="14" name="Rounded Rectangle 13"/>
          <p:cNvSpPr/>
          <p:nvPr/>
        </p:nvSpPr>
        <p:spPr>
          <a:xfrm>
            <a:off x="609600" y="4762500"/>
            <a:ext cx="10972800" cy="1047750"/>
          </a:xfrm>
          <a:prstGeom prst="roundRect">
            <a:avLst>
              <a:gd name="adj" fmla="val 5000"/>
            </a:avLst>
          </a:prstGeom>
          <a:solidFill>
            <a:srgbClr val="0A0A3D"/>
          </a:solidFill>
          <a:ln w="15240">
            <a:solidFill>
              <a:srgbClr val="A3E3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050" y="5048250"/>
            <a:ext cx="10629900" cy="571500"/>
          </a:xfrm>
          <a:prstGeom prst="rect">
            <a:avLst/>
          </a:prstGeom>
          <a:noFill/>
        </p:spPr>
        <p:txBody>
          <a:bodyPr wrap="square" lIns="0" rIns="0" tIns="0" bIns="0">
            <a:noAutofit/>
          </a:bodyPr>
          <a:lstStyle/>
          <a:p>
            <a:pPr algn="l">
              <a:lnSpc>
                <a:spcPct val="130000"/>
              </a:lnSpc>
              <a:spcAft>
                <a:spcPts val="0"/>
              </a:spcAft>
            </a:pPr>
            <a:r>
              <a:rPr sz="1450" b="1" i="0">
                <a:solidFill>
                  <a:srgbClr val="FFFFFF"/>
                </a:solidFill>
                <a:latin typeface="Inter"/>
              </a:rPr>
              <a:t>Regra geral pros dois: </a:t>
            </a:r>
            <a:r>
              <a:rPr sz="1450" b="0" i="0">
                <a:solidFill>
                  <a:srgbClr val="FFFFFF"/>
                </a:solidFill>
                <a:latin typeface="Inter"/>
              </a:rPr>
              <a:t>aplicar o filtro SMART e o manual de 6 passos antes de aplicar o filtro de “esse influenciador é fofo/tem muito seguidor”.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00002C"/>
            </a:gs>
            <a:gs pos="100000">
              <a:srgbClr val="1B4A5E"/>
            </a:gs>
          </a:gsLst>
          <a:lin scaled="0" ang="16200000"/>
        </a:gradFill>
        <a:effectLst/>
      </p:bgPr>
    </p:bg>
    <p:spTree>
      <p:nvGrpSpPr>
        <p:cNvPr id="1" name=""/>
        <p:cNvGrpSpPr/>
        <p:nvPr/>
      </p:nvGrpSpPr>
      <p:grpSpPr/>
      <p:sp>
        <p:nvSpPr>
          <p:cNvPr id="2" name="Right Arrow 1"/>
          <p:cNvSpPr/>
          <p:nvPr/>
        </p:nvSpPr>
        <p:spPr>
          <a:xfrm rot="18900000">
            <a:off x="5972175" y="1948244"/>
            <a:ext cx="247650" cy="104013"/>
          </a:xfrm>
          <a:prstGeom prst="rightArrow">
            <a:avLst>
              <a:gd name="adj1" fmla="val 55000"/>
              <a:gd name="adj2" fmla="val 55000"/>
            </a:avLst>
          </a:prstGeom>
          <a:solidFill>
            <a:srgbClr val="A3E3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9600" y="2381250"/>
            <a:ext cx="10972800" cy="1809750"/>
          </a:xfrm>
          <a:prstGeom prst="rect">
            <a:avLst/>
          </a:prstGeom>
          <a:noFill/>
        </p:spPr>
        <p:txBody>
          <a:bodyPr wrap="square" lIns="0" rIns="0" tIns="0" bIns="0">
            <a:noAutofit/>
          </a:bodyPr>
          <a:lstStyle/>
          <a:p>
            <a:pPr algn="ctr">
              <a:lnSpc>
                <a:spcPct val="112000"/>
              </a:lnSpc>
              <a:spcAft>
                <a:spcPts val="0"/>
              </a:spcAft>
            </a:pPr>
            <a:r>
              <a:rPr sz="3200" b="1" i="0">
                <a:solidFill>
                  <a:srgbClr val="FFFFFF"/>
                </a:solidFill>
                <a:latin typeface="Montserrat"/>
              </a:rPr>
              <a:t>O mercado profissionalizou.</a:t>
            </a:r>
          </a:p>
          <a:p>
            <a:pPr algn="ctr">
              <a:lnSpc>
                <a:spcPct val="112000"/>
              </a:lnSpc>
              <a:spcAft>
                <a:spcPts val="0"/>
              </a:spcAft>
            </a:pPr>
            <a:r>
              <a:rPr sz="3200" b="1" i="0">
                <a:solidFill>
                  <a:srgbClr val="FFFFFF"/>
                </a:solidFill>
                <a:latin typeface="Montserrat"/>
              </a:rPr>
              <a:t>Nosso direcionamento pro</a:t>
            </a:r>
          </a:p>
          <a:p>
            <a:pPr algn="ctr">
              <a:lnSpc>
                <a:spcPct val="112000"/>
              </a:lnSpc>
              <a:spcAft>
                <a:spcPts val="0"/>
              </a:spcAft>
            </a:pPr>
            <a:r>
              <a:rPr sz="3200" b="1" i="0">
                <a:solidFill>
                  <a:srgbClr val="FFFFFF"/>
                </a:solidFill>
                <a:latin typeface="Montserrat"/>
              </a:rPr>
              <a:t>cliente precisa acompanhar isso.</a:t>
            </a:r>
          </a:p>
        </p:txBody>
      </p:sp>
      <p:pic>
        <p:nvPicPr>
          <p:cNvPr id="4" name="Picture 3" descr="Logo Branca.png"/>
          <p:cNvPicPr>
            <a:picLocks noChangeAspect="1"/>
          </p:cNvPicPr>
          <p:nvPr/>
        </p:nvPicPr>
        <p:blipFill>
          <a:blip r:embed="rId2"/>
          <a:stretch>
            <a:fillRect/>
          </a:stretch>
        </p:blipFill>
        <p:spPr>
          <a:xfrm>
            <a:off x="5162930" y="4476750"/>
            <a:ext cx="993014" cy="228600"/>
          </a:xfrm>
          <a:prstGeom prst="rect">
            <a:avLst/>
          </a:prstGeom>
        </p:spPr>
      </p:pic>
      <p:pic>
        <p:nvPicPr>
          <p:cNvPr id="5" name="Picture 4" descr="Logotipo Tastto-1.png"/>
          <p:cNvPicPr>
            <a:picLocks noChangeAspect="1"/>
          </p:cNvPicPr>
          <p:nvPr/>
        </p:nvPicPr>
        <p:blipFill>
          <a:blip r:embed="rId3"/>
          <a:stretch>
            <a:fillRect/>
          </a:stretch>
        </p:blipFill>
        <p:spPr>
          <a:xfrm>
            <a:off x="6622669" y="4476750"/>
            <a:ext cx="406400" cy="228600"/>
          </a:xfrm>
          <a:prstGeom prst="rect">
            <a:avLst/>
          </a:prstGeom>
        </p:spPr>
      </p:pic>
      <p:sp>
        <p:nvSpPr>
          <p:cNvPr id="6" name="Rectangle 5"/>
          <p:cNvSpPr/>
          <p:nvPr/>
        </p:nvSpPr>
        <p:spPr>
          <a:xfrm>
            <a:off x="6384544" y="4448175"/>
            <a:ext cx="9525" cy="285750"/>
          </a:xfrm>
          <a:prstGeom prst="rect">
            <a:avLst/>
          </a:prstGeom>
          <a:solidFill>
            <a:srgbClr val="3030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A3E3F0"/>
      </a:hlink>
      <a:folHlink>
        <a:srgbClr val="A3E3F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