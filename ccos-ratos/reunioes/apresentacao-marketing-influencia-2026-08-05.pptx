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6002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1" i="0" spc="60">
                <a:solidFill>
                  <a:srgbClr val="6C6CFF"/>
                </a:solidFill>
                <a:latin typeface="Consolas"/>
              </a:rPr>
              <a:t>REUNIÃO INTERNA · ARTTICO &amp; TASTTO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924050"/>
            <a:ext cx="10972800" cy="1809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F4F6FB"/>
                </a:solidFill>
                <a:latin typeface="Georgia"/>
              </a:rPr>
              <a:t>O que o mercado de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F4F6FB"/>
                </a:solidFill>
                <a:latin typeface="Georgia"/>
              </a:rPr>
              <a:t>influência ensina — e o que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F4F6FB"/>
                </a:solidFill>
                <a:latin typeface="Georgia"/>
              </a:rPr>
              <a:t>isso muda no direcionamento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900" b="1" i="0">
                <a:solidFill>
                  <a:srgbClr val="F4F6FB"/>
                </a:solidFill>
                <a:latin typeface="Georgia"/>
              </a:rPr>
              <a:t>que damos pros clientes.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0" y="4000500"/>
            <a:ext cx="8305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A9AFCC"/>
                </a:solidFill>
                <a:latin typeface="Segoe UI"/>
              </a:rPr>
              <a:t>Baseado em </a:t>
            </a:r>
            <a:r>
              <a:rPr sz="1450" b="0" i="1">
                <a:solidFill>
                  <a:srgbClr val="A9AFCC"/>
                </a:solidFill>
                <a:latin typeface="Segoe UI"/>
              </a:rPr>
              <a:t>Influencer Marketing Strategy</a:t>
            </a:r>
            <a:r>
              <a:rPr sz="1450" b="0" i="0">
                <a:solidFill>
                  <a:srgbClr val="A9AFCC"/>
                </a:solidFill>
                <a:latin typeface="Segoe UI"/>
              </a:rPr>
              <a:t> (Gordon Glenister, 2021), mesclado com dados de mercado de 2025.</a:t>
            </a:r>
          </a:p>
        </p:txBody>
      </p:sp>
      <p:pic>
        <p:nvPicPr>
          <p:cNvPr id="5" name="Picture 4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21" y="4762500"/>
            <a:ext cx="1075765" cy="247650"/>
          </a:xfrm>
          <a:prstGeom prst="rect">
            <a:avLst/>
          </a:prstGeom>
        </p:spPr>
      </p:pic>
      <p:pic>
        <p:nvPicPr>
          <p:cNvPr id="6" name="Picture 5" descr="Logotipo Tastt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111" y="4762500"/>
            <a:ext cx="440267" cy="2476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8986" y="4733925"/>
            <a:ext cx="9525" cy="304800"/>
          </a:xfrm>
          <a:prstGeom prst="rect">
            <a:avLst/>
          </a:prstGeom>
          <a:solidFill>
            <a:srgbClr val="26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INTRODUÇÃO · ~2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F4F6FB"/>
                </a:solidFill>
                <a:latin typeface="Georgia"/>
              </a:rPr>
              <a:t>O mercado não cresceu — ele profissionalizou.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238250"/>
          <a:ext cx="10972800" cy="1390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57500"/>
                <a:gridCol w="4057650"/>
                <a:gridCol w="4057650"/>
              </a:tblGrid>
              <a:tr h="304800">
                <a:tc>
                  <a:txBody>
                    <a:bodyPr lIns="95250" tIns="19050" bIns="19050"/>
                    <a:lstStyle/>
                    <a:p>
                      <a:r>
                        <a:rPr sz="1050" b="1">
                          <a:solidFill>
                            <a:srgbClr val="A9AFCC"/>
                          </a:solidFill>
                          <a:latin typeface="Consolas"/>
                        </a:rPr>
                        <a:t/>
                      </a:r>
                    </a:p>
                  </a:txBody>
                  <a:tcPr anchor="ctr">
                    <a:solidFill>
                      <a:srgbClr val="15152E"/>
                    </a:solidFill>
                  </a:tcPr>
                </a:tc>
                <a:tc>
                  <a:txBody>
                    <a:bodyPr lIns="95250" tIns="19050" bIns="19050"/>
                    <a:lstStyle/>
                    <a:p>
                      <a:r>
                        <a:rPr sz="1050" b="1">
                          <a:solidFill>
                            <a:srgbClr val="A9AFCC"/>
                          </a:solidFill>
                          <a:latin typeface="Consolas"/>
                        </a:rPr>
                        <a:t>2019 (LIVRO)</a:t>
                      </a:r>
                    </a:p>
                  </a:txBody>
                  <a:tcPr anchor="ctr">
                    <a:solidFill>
                      <a:srgbClr val="15152E"/>
                    </a:solidFill>
                  </a:tcPr>
                </a:tc>
                <a:tc>
                  <a:txBody>
                    <a:bodyPr lIns="95250" tIns="19050" bIns="19050"/>
                    <a:lstStyle/>
                    <a:p>
                      <a:r>
                        <a:rPr sz="1050" b="1">
                          <a:solidFill>
                            <a:srgbClr val="A9AFCC"/>
                          </a:solidFill>
                          <a:latin typeface="Consolas"/>
                        </a:rPr>
                        <a:t>2025 (ATUAL)</a:t>
                      </a:r>
                    </a:p>
                  </a:txBody>
                  <a:tcPr anchor="ctr">
                    <a:solidFill>
                      <a:srgbClr val="15152E"/>
                    </a:solidFill>
                  </a:tcPr>
                </a:tc>
              </a:tr>
              <a:tr h="36195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Mercado global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US$ 8 bi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US$ 31–34 bi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  <a:tr h="36195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Retorno / adoção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$5,20 por $1 investido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75% das empresas já usam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  <a:tr h="36195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Brasil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não mensurado no livro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2,1 milhões de criadores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9600" y="3048000"/>
            <a:ext cx="5372100" cy="3143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050" y="3219450"/>
            <a:ext cx="50292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A migração de confiança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505200"/>
            <a:ext cx="5029200" cy="2552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Millennials e Gen Z desconfiam por padrão de mídia tradicional e confiam por padrão em “gente como a gente” — isso é comportamento de compra: </a:t>
            </a:r>
            <a:r>
              <a:rPr sz="1300" b="1" i="0">
                <a:solidFill>
                  <a:srgbClr val="F4F6FB"/>
                </a:solidFill>
                <a:latin typeface="Segoe UI"/>
              </a:rPr>
              <a:t>58% dos brasileiros já compraram algo por indicação direta de um criador.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Cases fundadores: Airbnb cresceu com influenciadores locais antes de ter mídia tradicional · Glossier nasceu de um blog e virou marca bilionária · Estée Lauder (marca centenária) já destina 75% do orçamento de marketing pra digital/influenciadores.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Marco da pandemia: mídia tradicional parou, toda marca testou influenciador — o “teste” virou linha de orçamento permanente.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300" y="3048000"/>
            <a:ext cx="5372100" cy="3143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1750" y="3219450"/>
            <a:ext cx="5715" cy="280035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3219450"/>
            <a:ext cx="4857750" cy="2800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600">
                <a:solidFill>
                  <a:srgbClr val="F4F6FB"/>
                </a:solidFill>
                <a:latin typeface="Georgia"/>
              </a:rPr>
              <a:t>“Consumidores, instituições, não gozam mais da nossa confiança cega. Nem os grandes negócios. Nem a mídia. Nós ainda confiamos, porém, em pessoas como nós.”</a:t>
            </a:r>
          </a:p>
          <a:p>
            <a:r>
              <a:rPr sz="1100">
                <a:solidFill>
                  <a:srgbClr val="6C6CFF"/>
                </a:solidFill>
                <a:latin typeface="Consolas"/>
              </a:rPr>
              <a:t>SCOTT GUTHRIE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03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1 · O QUE É INFLUENCER MARKETING · ~1,5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666750"/>
            <a:ext cx="5715" cy="104775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666750"/>
            <a:ext cx="10801350" cy="1047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2100">
                <a:solidFill>
                  <a:srgbClr val="F4F6FB"/>
                </a:solidFill>
                <a:latin typeface="Georgia"/>
              </a:rPr>
              <a:t>“Um influenciador é um indivíduo que pode efetuar mudança no comportamento de outros, frequentemente através de opinião confiável, conhecimento e criação de conteúdo.”</a:t>
            </a:r>
          </a:p>
          <a:p>
            <a:r>
              <a:rPr sz="1200">
                <a:solidFill>
                  <a:srgbClr val="6C6CFF"/>
                </a:solidFill>
                <a:latin typeface="Consolas"/>
              </a:rPr>
              <a:t>GORDON GLENISTER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000250"/>
            <a:ext cx="3505200" cy="1333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050" y="2152650"/>
            <a:ext cx="3162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552700"/>
            <a:ext cx="31623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seguem criador pra aprender algo novo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00250"/>
            <a:ext cx="3505200" cy="1333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850" y="2152650"/>
            <a:ext cx="3162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850" y="2552700"/>
            <a:ext cx="31623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seguem por entretenimento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000250"/>
            <a:ext cx="3505200" cy="1333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8650" y="217170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Desde a pandemia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8650" y="2457450"/>
            <a:ext cx="3162300" cy="742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Confiabilidade (trustworthiness) virou o traço #1 mais valorizado — à frente de humor e criatividade.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667125"/>
            <a:ext cx="5372100" cy="209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A9AFCC"/>
                </a:solidFill>
                <a:latin typeface="Segoe UI"/>
              </a:rPr>
              <a:t>Não é: endosso de celebridade, nem affiliate, nem referral marketing puro. São primos, não sinônimos — vale alinhar o vocabulário internamente.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3667125"/>
            <a:ext cx="5372100" cy="2095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1750" y="3838575"/>
            <a:ext cx="5715" cy="175260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0" y="3838575"/>
            <a:ext cx="4857750" cy="1752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350">
                <a:solidFill>
                  <a:srgbClr val="F4F6FB"/>
                </a:solidFill>
                <a:latin typeface="Georgia"/>
              </a:rPr>
              <a:t>“90% das marcas abordam influenciadores com algo do tipo: ‘Quanto você cobra pra repetir o que eu digo, palavra por palavra?’ Isso é só spam disfarçado.”</a:t>
            </a:r>
          </a:p>
          <a:p>
            <a:r>
              <a:rPr sz="1050">
                <a:solidFill>
                  <a:srgbClr val="6C6CFF"/>
                </a:solidFill>
                <a:latin typeface="Consolas"/>
              </a:rPr>
              <a:t>JASON FALLS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04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2 · PLATAFORMAS EM ALTA ·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F4F6FB"/>
                </a:solidFill>
                <a:latin typeface="Georgia"/>
              </a:rPr>
              <a:t>Onde investir atenção agora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2600325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050" y="1504950"/>
            <a:ext cx="2257425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790700"/>
            <a:ext cx="2257425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Motor de conversão via Shopping tags — nº1 pra parceria paga.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0425" y="1333500"/>
            <a:ext cx="2600325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1875" y="1504950"/>
            <a:ext cx="2257425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875" y="1790700"/>
            <a:ext cx="2257425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A que mais cresce; exige a maior liberdade criativa do criador.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250" y="1333500"/>
            <a:ext cx="2600325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1504950"/>
            <a:ext cx="2257425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1790700"/>
            <a:ext cx="2257425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Consolas"/>
              </a:rPr>
              <a:t>70%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do watch time é mobile — autenticidade &gt; produção cara.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2075" y="1333500"/>
            <a:ext cx="2600325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525" y="1504950"/>
            <a:ext cx="2257425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Twitter/X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525" y="1790700"/>
            <a:ext cx="2257425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Consolas"/>
              </a:rPr>
              <a:t>40%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dos usuários já compraram por causa de um tweet de influenciador.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3619500"/>
            <a:ext cx="10972800" cy="857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50" y="3790950"/>
            <a:ext cx="1333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019550"/>
            <a:ext cx="10629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F4F6FB"/>
                </a:solidFill>
                <a:latin typeface="Segoe UI"/>
              </a:rPr>
              <a:t>PESO Model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 — Paid / Earned / Shared / Owned. Útil pra mostrar ao cliente onde a campanha de influenciador entra no mix de mídia que ele já compra.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05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CAPÍTULOS 3+4 · FRAMEWORK + CONTRATO · ~1,5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F4F6FB"/>
                </a:solidFill>
                <a:latin typeface="Georgia"/>
              </a:rPr>
              <a:t>Toda campanha passa pelo SMART antes do 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207264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050" y="148590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885950"/>
            <a:ext cx="172974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Specific — o que resolve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33500"/>
            <a:ext cx="207264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6090" y="148590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6090" y="1885950"/>
            <a:ext cx="172974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Measurable — métrica de sucesso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680" y="1333500"/>
            <a:ext cx="207264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1130" y="148590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1130" y="1885950"/>
            <a:ext cx="172974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Attainable — meta realista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4720" y="1333500"/>
            <a:ext cx="207264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6170" y="148590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6170" y="1885950"/>
            <a:ext cx="172974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Relevant — objetivo comercial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33500"/>
            <a:ext cx="207264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1210" y="1485900"/>
            <a:ext cx="172974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1210" y="1885950"/>
            <a:ext cx="172974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Time-bound — prazo definido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2857500"/>
            <a:ext cx="5372100" cy="2857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050" y="3028950"/>
            <a:ext cx="5715" cy="251460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3028950"/>
            <a:ext cx="4857750" cy="2514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600">
                <a:solidFill>
                  <a:srgbClr val="F4F6FB"/>
                </a:solidFill>
                <a:latin typeface="Georgia"/>
              </a:rPr>
              <a:t>“Posso praticamente garantir que não funcionou porque não usaram os influenciadores certos e abordaram do ângulo errado.”</a:t>
            </a:r>
          </a:p>
          <a:p>
            <a:r>
              <a:rPr sz="1100">
                <a:solidFill>
                  <a:srgbClr val="6C6CFF"/>
                </a:solidFill>
                <a:latin typeface="Consolas"/>
              </a:rPr>
              <a:t>SEDGE BESWICK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0300" y="2857500"/>
            <a:ext cx="5372100" cy="2857500"/>
          </a:xfrm>
          <a:prstGeom prst="rect">
            <a:avLst/>
          </a:prstGeom>
          <a:solidFill>
            <a:srgbClr val="1F1423"/>
          </a:solidFill>
          <a:ln w="12700">
            <a:solidFill>
              <a:srgbClr val="5F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0300" y="2857500"/>
            <a:ext cx="5715" cy="2857500"/>
          </a:xfrm>
          <a:prstGeom prst="rect">
            <a:avLst/>
          </a:prstGeom>
          <a:solidFill>
            <a:srgbClr val="F9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1750" y="2990850"/>
            <a:ext cx="5048250" cy="25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F96A2B"/>
                </a:solidFill>
                <a:latin typeface="Consolas"/>
              </a:rPr>
              <a:t>NOTA · CAPÍTULO 4 — O CONTRATO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F4F6FB"/>
                </a:solidFill>
                <a:latin typeface="Segoe UI"/>
              </a:rPr>
              <a:t>Proteção de reputação, não burocracia: </a:t>
            </a:r>
            <a:r>
              <a:rPr sz="1350" b="0">
                <a:solidFill>
                  <a:srgbClr val="F4F6FB"/>
                </a:solidFill>
                <a:latin typeface="Segoe UI"/>
              </a:rPr>
              <a:t>pagamento e prazo por escrito, direitos de uso da imagem, disclosure obrigatório (#ad — não #sp), aprovação de conteúdo antes de publicar, cláusula de exclusividade.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A9AFCC"/>
                </a:solidFill>
                <a:latin typeface="Segoe UI"/>
              </a:rPr>
              <a:t>Caso de referência: Scott Disick/Bootea postou o script inteiro que a marca mandou — vexame público que virou meme.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06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5 · PERFIL DO INFLUENCIADOR · ~1,5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857250"/>
          <a:ext cx="10972800" cy="190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486400"/>
              </a:tblGrid>
              <a:tr h="304800">
                <a:tc>
                  <a:txBody>
                    <a:bodyPr lIns="95250" tIns="19050" bIns="19050"/>
                    <a:lstStyle/>
                    <a:p>
                      <a:r>
                        <a:rPr sz="1050" b="1">
                          <a:solidFill>
                            <a:srgbClr val="A9AFCC"/>
                          </a:solidFill>
                          <a:latin typeface="Consolas"/>
                        </a:rPr>
                        <a:t>DADO DO LIVRO (2021)</a:t>
                      </a:r>
                    </a:p>
                  </a:txBody>
                  <a:tcPr anchor="ctr">
                    <a:solidFill>
                      <a:srgbClr val="15152E"/>
                    </a:solidFill>
                  </a:tcPr>
                </a:tc>
                <a:tc>
                  <a:txBody>
                    <a:bodyPr lIns="95250" tIns="19050" bIns="19050"/>
                    <a:lstStyle/>
                    <a:p>
                      <a:r>
                        <a:rPr sz="1050" b="1">
                          <a:solidFill>
                            <a:srgbClr val="A9AFCC"/>
                          </a:solidFill>
                          <a:latin typeface="Consolas"/>
                        </a:rPr>
                        <a:t>REALIDADE ATUAL (BRASIL)</a:t>
                      </a:r>
                    </a:p>
                  </a:txBody>
                  <a:tcPr anchor="ctr">
                    <a:solidFill>
                      <a:srgbClr val="15152E"/>
                    </a:solidFill>
                  </a:tcPr>
                </a:tc>
              </a:tr>
              <a:tr h="53340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Idade média 28 anos, 77% mulheres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91% dos jovens de 16–29 anos acompanham influenciador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  <a:tr h="53340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Só 18% vivem 100% de conteúdo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mercado “mais profissional e orientado a performance”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  <a:tr h="533400"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56% ainda veem $ como motivador nº1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  <a:tc>
                  <a:txBody>
                    <a:bodyPr wrap="square" lIns="95250" rIns="57150" tIns="38100" bIns="38100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>
                          <a:solidFill>
                            <a:srgbClr val="F4F6FB"/>
                          </a:solidFill>
                          <a:latin typeface="Segoe UI"/>
                        </a:rPr>
                        <a:t>68% acham que já tem influenciador demais — curadoria importa mais</a:t>
                      </a:r>
                    </a:p>
                  </a:txBody>
                  <a:tcPr anchor="ctr">
                    <a:solidFill>
                      <a:srgbClr val="0C0C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33337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147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Pesquisar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2350"/>
            <a:ext cx="2295525" cy="1200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Media kit, histórico com concorrente.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0425" y="33337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5225" y="33147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Definir compensação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5225" y="3562350"/>
            <a:ext cx="2295525" cy="1200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Cachê, comissão ou permuta com limite.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3337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3147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Oferecer diferencial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562350"/>
            <a:ext cx="2295525" cy="1200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Evento exclusivo quando o budget é curto.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2075" y="33337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6875" y="3314700"/>
            <a:ext cx="22955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Alinhar por escrito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6875" y="3562350"/>
            <a:ext cx="2295525" cy="1200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Deliverables antes de fechar.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07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CAPÍTULOS 6+7 · MANUAL PRÁTICO · ~2,5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4F6FB"/>
                </a:solidFill>
                <a:latin typeface="Georgia"/>
              </a:rPr>
              <a:t>Como encontrar (e reter) o influenciador ideal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192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Não procure sem 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68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Volte pro SMART antes de abrir qualquer plataforma.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300" y="12382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2192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Pesquise onde a conversa já acontece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14668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Hashtag do nicho, geotag da cidade, o que o concorrente já faz.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1145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955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Filtre por qualidade, não seguidor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431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Engagement acima de 3% é bom, acima de 10% é excelente. Seguidor alto + engajamento baixo = provável fraude.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300" y="21145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0955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Construa relação antes de pedir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3431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Metade dos e-mails frios nunca recebe resposta — prospecte o dobro do que precisa.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9908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Escolha o modelo certo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194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Outreach direto (budget curto) vs. plataforma vs. agência full-service (cliente grande).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300" y="2990850"/>
            <a:ext cx="285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6C6CFF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971800"/>
            <a:ext cx="50673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Georgia"/>
              </a:rPr>
              <a:t>Não pare na campanha única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219450"/>
            <a:ext cx="5067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Vire embaixador: calendário recorrente, recompensa escalonada. Indicação retém 37% melhor.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981450"/>
            <a:ext cx="5715" cy="85725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050" y="3981450"/>
            <a:ext cx="10801350" cy="857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450">
                <a:solidFill>
                  <a:srgbClr val="F4F6FB"/>
                </a:solidFill>
                <a:latin typeface="Georgia"/>
              </a:rPr>
              <a:t>“A base inteira do marketing de influência é construída em confiança — se essa confiança é traída, não há conversão nenhuma.”</a:t>
            </a:r>
          </a:p>
          <a:p>
            <a:r>
              <a:rPr sz="1100">
                <a:solidFill>
                  <a:srgbClr val="6C6CFF"/>
                </a:solidFill>
                <a:latin typeface="Consolas"/>
              </a:rPr>
              <a:t>MIKE ALTON, AGORAPULSE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08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9 · O FUTURO, DIRETO · ~1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57250"/>
            <a:ext cx="3505200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102870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314450"/>
            <a:ext cx="3162300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Influenciador deixa de ser “amplificador de mídia” e vira parte integral da estratégia.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857250"/>
            <a:ext cx="3505200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850" y="102870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850" y="1314450"/>
            <a:ext cx="3162300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Vídeo (TikTok/Reels) domina o formato — quem não entrega vídeo fica pra trás.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857250"/>
            <a:ext cx="3505200" cy="2000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8650" y="102870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8650" y="1314450"/>
            <a:ext cx="3162300" cy="140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A pergunta muda de “quanto alcance” pra “dá pra confiar nesse dado?”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143250"/>
            <a:ext cx="5372100" cy="2476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050" y="3314700"/>
            <a:ext cx="5715" cy="213360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3314700"/>
            <a:ext cx="4857750" cy="2133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600">
                <a:solidFill>
                  <a:srgbClr val="F4F6FB"/>
                </a:solidFill>
                <a:latin typeface="Georgia"/>
              </a:rPr>
              <a:t>“O marketing de influência será muito mais envolvido como algo integral, em vez de amplificador de mídia.”</a:t>
            </a:r>
          </a:p>
          <a:p>
            <a:r>
              <a:rPr sz="1100">
                <a:solidFill>
                  <a:srgbClr val="6C6CFF"/>
                </a:solidFill>
                <a:latin typeface="Consolas"/>
              </a:rPr>
              <a:t>GORDON GLENISTER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3143250"/>
            <a:ext cx="5372100" cy="2476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1750" y="3314700"/>
            <a:ext cx="5715" cy="2133600"/>
          </a:xfrm>
          <a:prstGeom prst="rect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200" y="3314700"/>
            <a:ext cx="4857750" cy="2133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i="1" sz="1600">
                <a:solidFill>
                  <a:srgbClr val="F4F6FB"/>
                </a:solidFill>
                <a:latin typeface="Georgia"/>
              </a:rPr>
              <a:t>“A forma de contar histórias terá papel maior com a rejeição dos métodos tradicionais de propaganda.”</a:t>
            </a:r>
          </a:p>
          <a:p>
            <a:r>
              <a:rPr sz="1100">
                <a:solidFill>
                  <a:srgbClr val="6C6CFF"/>
                </a:solidFill>
                <a:latin typeface="Consolas"/>
              </a:rPr>
              <a:t>GORDON GLENISTER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09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10 · MÉTRICAS QUE PROVAM RESULTADO · ~1,5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09728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F4F6FB"/>
                </a:solidFill>
                <a:latin typeface="Georgia"/>
              </a:rPr>
              <a:t>Sai a vaidade, entra o dado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333500"/>
            <a:ext cx="350520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050" y="1485900"/>
            <a:ext cx="3162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3–6%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8859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engajamento considerado bom no Instagram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33500"/>
            <a:ext cx="350520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850" y="1485900"/>
            <a:ext cx="31623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1" i="0">
                <a:solidFill>
                  <a:srgbClr val="B0AFFF"/>
                </a:solidFill>
                <a:latin typeface="Consolas"/>
              </a:rPr>
              <a:t>10%+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850" y="1885950"/>
            <a:ext cx="31623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A9AFCC"/>
                </a:solidFill>
                <a:latin typeface="Segoe UI"/>
              </a:rPr>
              <a:t>engajamento considerado excelente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333500"/>
            <a:ext cx="3505200" cy="12382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8650" y="1504950"/>
            <a:ext cx="31623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CPE, não curtida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8650" y="1790700"/>
            <a:ext cx="3162300" cy="647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Sair de métrica de vaidade pra custo por engajamento e custo por conversão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2857500"/>
            <a:ext cx="10972800" cy="14287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050" y="3028950"/>
            <a:ext cx="106299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O que toda campanha viral bem-sucedida tem em comum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352800"/>
            <a:ext cx="52006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Mensagem simples com CTA claro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Conexão emocional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300" y="3352800"/>
            <a:ext cx="52006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Presença em múltiplas plataformas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Comunicação contínua durante a campanha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0"/>
            <a:ext cx="10972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F4F6FB"/>
                </a:solidFill>
                <a:latin typeface="Segoe UI"/>
              </a:rPr>
              <a:t>Regra prática: </a:t>
            </a:r>
            <a:r>
              <a:rPr sz="1500" b="0" i="0">
                <a:solidFill>
                  <a:srgbClr val="A9AFCC"/>
                </a:solidFill>
                <a:latin typeface="Segoe UI"/>
              </a:rPr>
              <a:t>se não dá pra medir antes de começar, não é campanha, é aposta.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10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CAPÍTULO 11 · CASE DO LIVRO + REALIDADE ATUAL · ~1,5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57250"/>
            <a:ext cx="5372100" cy="26670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050" y="1028700"/>
            <a:ext cx="5029200" cy="247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500" b="1" i="0">
                <a:solidFill>
                  <a:srgbClr val="F4F6FB"/>
                </a:solidFill>
                <a:latin typeface="Georgia"/>
              </a:rPr>
              <a:t>O case mais parecido com nosso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1314450"/>
            <a:ext cx="5029200" cy="2076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A9AFCC"/>
                </a:solidFill>
                <a:latin typeface="Segoe UI"/>
              </a:rPr>
              <a:t>Donos de um restaurante vegetariano em Londres, budget mínimo, ofereceram refeição grátis a influenciadores locais de nicho. </a:t>
            </a:r>
            <a:r>
              <a:rPr sz="1300" b="1" i="0">
                <a:solidFill>
                  <a:srgbClr val="F4F6FB"/>
                </a:solidFill>
                <a:latin typeface="Segoe UI"/>
              </a:rPr>
              <a:t>Um único influenciador gerou quatro reservas de mesa subsequentes.</a:t>
            </a:r>
            <a:r>
              <a:rPr sz="1300" b="0" i="0">
                <a:solidFill>
                  <a:srgbClr val="A9AFCC"/>
                </a:solidFill>
                <a:latin typeface="Segoe UI"/>
              </a:rPr>
              <a:t> Prova que funciona pra food service pequeno com orçamento curto.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0300" y="857250"/>
            <a:ext cx="5372100" cy="2667000"/>
          </a:xfrm>
          <a:prstGeom prst="rect">
            <a:avLst/>
          </a:prstGeom>
          <a:solidFill>
            <a:srgbClr val="1F1423"/>
          </a:solidFill>
          <a:ln w="12700">
            <a:solidFill>
              <a:srgbClr val="5F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857250"/>
            <a:ext cx="5715" cy="2667000"/>
          </a:xfrm>
          <a:prstGeom prst="rect">
            <a:avLst/>
          </a:prstGeom>
          <a:solidFill>
            <a:srgbClr val="F9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1750" y="990600"/>
            <a:ext cx="504825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F96A2B"/>
                </a:solidFill>
                <a:latin typeface="Consolas"/>
              </a:rPr>
              <a:t>CONTRAPONTO DE RISCO · FYRE FESTIVAL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0">
                <a:solidFill>
                  <a:srgbClr val="F4F6FB"/>
                </a:solidFill>
                <a:latin typeface="Segoe UI"/>
              </a:rPr>
              <a:t>Kendall Jenner recebeu US$ 250 mil por um post, evento vendeu 95% dos ingressos em 48h — e foi o maior desastre de execução do setor. Influenciador vende expectativa; quem não entrega destrói marca mais rápido do que qualquer post orgânico ruim.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810000"/>
            <a:ext cx="10972800" cy="1333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4229100"/>
            <a:ext cx="24765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1" i="0">
                <a:solidFill>
                  <a:srgbClr val="B0AFFF"/>
                </a:solidFill>
                <a:latin typeface="Consolas"/>
              </a:rPr>
              <a:t>R$ 455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100" y="4133850"/>
            <a:ext cx="78867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A9AFCC"/>
                </a:solidFill>
                <a:latin typeface="Segoe UI"/>
              </a:rPr>
              <a:t>movimentados pelo food service brasileiro em 2024, com </a:t>
            </a:r>
            <a:r>
              <a:rPr sz="1400" b="1" i="0">
                <a:solidFill>
                  <a:srgbClr val="F4F6FB"/>
                </a:solidFill>
                <a:latin typeface="Segoe UI"/>
              </a:rPr>
              <a:t>46%</a:t>
            </a:r>
            <a:r>
              <a:rPr sz="1400" b="0" i="0">
                <a:solidFill>
                  <a:srgbClr val="A9AFCC"/>
                </a:solidFill>
                <a:latin typeface="Segoe UI"/>
              </a:rPr>
              <a:t> dos operadores já priorizando marketing digital em 2025 — o cliente já está pronto pra ouvir essa recomendação.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439400" y="65341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A9AFCC"/>
                </a:solidFill>
                <a:latin typeface="Consolas"/>
              </a:rPr>
              <a:t>11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972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6C6CFF"/>
                </a:solidFill>
                <a:latin typeface="Consolas"/>
              </a:rPr>
              <a:t>SÍNTESE · APLICAÇÃO ARTTICO &amp; TASTTO · ~1,5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857250"/>
            <a:ext cx="5372100" cy="3619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050" y="1057275"/>
            <a:ext cx="76200" cy="76200"/>
          </a:xfrm>
          <a:prstGeom prst="ellipse">
            <a:avLst/>
          </a:prstGeom>
          <a:solidFill>
            <a:srgbClr val="6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" y="9906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F4F6FB"/>
                </a:solidFill>
                <a:latin typeface="Consolas"/>
              </a:rPr>
              <a:t>PRA ARTTICO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1352550"/>
            <a:ext cx="5029200" cy="295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1" i="0">
                <a:solidFill>
                  <a:srgbClr val="6C6CFF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Influencer marketing entra como canal com meta e métrica, igual tráfego pago — nunca “vamos postar e ver no que dá”.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1" i="0">
                <a:solidFill>
                  <a:srgbClr val="6C6CFF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Food service é literalmente um dos setores que o livro aponta como melhor encaixe — isso valida recomendar com confiança pra carteira atual.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1" i="0">
                <a:solidFill>
                  <a:srgbClr val="6C6CFF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Permuta é ferramenta legítima pra cliente pequeno, mas só com critério de seleção e contrato mínimo.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857250"/>
            <a:ext cx="5372100" cy="361950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2700">
            <a:solidFill>
              <a:srgbClr val="2626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81750" y="1057275"/>
            <a:ext cx="76200" cy="76200"/>
          </a:xfrm>
          <a:prstGeom prst="ellipse">
            <a:avLst/>
          </a:prstGeom>
          <a:solidFill>
            <a:srgbClr val="B0A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4150" y="9906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50" b="1" i="0" spc="60">
                <a:solidFill>
                  <a:srgbClr val="F4F6FB"/>
                </a:solidFill>
                <a:latin typeface="Consolas"/>
              </a:rPr>
              <a:t>PRA TASTTO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1352550"/>
            <a:ext cx="5029200" cy="295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Toda campanha nasce com código promocional/link rastreável — sem isso, não dá pra provar ROI na reunião FIVE.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50" b="1" i="0">
                <a:solidFill>
                  <a:srgbClr val="B0AFFF"/>
                </a:solidFill>
                <a:latin typeface="Segoe UI"/>
              </a:rPr>
              <a:t>•  </a:t>
            </a:r>
            <a:r>
              <a:rPr sz="1350" b="0" i="0">
                <a:solidFill>
                  <a:srgbClr val="A9AFCC"/>
                </a:solidFill>
                <a:latin typeface="Segoe UI"/>
              </a:rPr>
              <a:t>Influenciador vira fonte de dado, não só de alcance: quantas mesas, quantos pedidos, qual prato teve mais menção.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4762500"/>
            <a:ext cx="10972800" cy="1047750"/>
          </a:xfrm>
          <a:prstGeom prst="roundRect">
            <a:avLst>
              <a:gd name="adj" fmla="val 4000"/>
            </a:avLst>
          </a:prstGeom>
          <a:solidFill>
            <a:srgbClr val="15152E"/>
          </a:solidFill>
          <a:ln w="15240">
            <a:solidFill>
              <a:srgbClr val="6C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50" y="5048250"/>
            <a:ext cx="106299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0">
                <a:solidFill>
                  <a:srgbClr val="F4F6FB"/>
                </a:solidFill>
                <a:latin typeface="Segoe UI"/>
              </a:rPr>
              <a:t>Regra geral pros dois: </a:t>
            </a:r>
            <a:r>
              <a:rPr sz="1450" b="0" i="0">
                <a:solidFill>
                  <a:srgbClr val="F4F6FB"/>
                </a:solidFill>
                <a:latin typeface="Segoe UI"/>
              </a:rPr>
              <a:t>aplicar o filtro SMART e o manual de 6 passos antes de aplicar o filtro de “esse influenciador é fofo/tem muito seguidor”.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381250"/>
            <a:ext cx="10972800" cy="1809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4F6FB"/>
                </a:solidFill>
                <a:latin typeface="Georgia"/>
              </a:rPr>
              <a:t>O mercado profissionalizou.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4F6FB"/>
                </a:solidFill>
                <a:latin typeface="Georgia"/>
              </a:rPr>
              <a:t>Nosso direcionamento pro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4F6FB"/>
                </a:solidFill>
                <a:latin typeface="Georgia"/>
              </a:rPr>
              <a:t>cliente precisa acompanhar isso.</a:t>
            </a:r>
          </a:p>
        </p:txBody>
      </p:sp>
      <p:pic>
        <p:nvPicPr>
          <p:cNvPr id="3" name="Picture 2" descr="Logo 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930" y="4476750"/>
            <a:ext cx="993014" cy="228600"/>
          </a:xfrm>
          <a:prstGeom prst="rect">
            <a:avLst/>
          </a:prstGeom>
        </p:spPr>
      </p:pic>
      <p:pic>
        <p:nvPicPr>
          <p:cNvPr id="4" name="Picture 3" descr="Logotipo Tastt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669" y="4476750"/>
            <a:ext cx="406400" cy="228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4544" y="4448175"/>
            <a:ext cx="9525" cy="285750"/>
          </a:xfrm>
          <a:prstGeom prst="rect">
            <a:avLst/>
          </a:prstGeom>
          <a:solidFill>
            <a:srgbClr val="262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C6CFF"/>
      </a:hlink>
      <a:folHlink>
        <a:srgbClr val="6C6C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